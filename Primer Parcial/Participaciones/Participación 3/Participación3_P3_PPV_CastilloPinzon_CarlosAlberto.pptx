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Sifonn" charset="1" panose="00000000000000000000"/>
      <p:regular r:id="rId18"/>
    </p:embeddedFont>
    <p:embeddedFont>
      <p:font typeface="Bebas Neue Bold" charset="1" panose="020B0606020202050201"/>
      <p:regular r:id="rId19"/>
    </p:embeddedFont>
    <p:embeddedFont>
      <p:font typeface="Bebas Neue" charset="1" panose="00000500000000000000"/>
      <p:regular r:id="rId20"/>
    </p:embeddedFont>
    <p:embeddedFont>
      <p:font typeface="Montserrat Bold" charset="1" panose="00000800000000000000"/>
      <p:regular r:id="rId21"/>
    </p:embeddedFont>
    <p:embeddedFont>
      <p:font typeface="Montserrat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468950">
            <a:off x="4461204" y="-43890"/>
            <a:ext cx="8278279" cy="2338614"/>
          </a:xfrm>
          <a:custGeom>
            <a:avLst/>
            <a:gdLst/>
            <a:ahLst/>
            <a:cxnLst/>
            <a:rect r="r" b="b" t="t" l="l"/>
            <a:pathLst>
              <a:path h="2338614" w="8278279">
                <a:moveTo>
                  <a:pt x="8278279" y="0"/>
                </a:moveTo>
                <a:lnTo>
                  <a:pt x="0" y="0"/>
                </a:lnTo>
                <a:lnTo>
                  <a:pt x="0" y="2338613"/>
                </a:lnTo>
                <a:lnTo>
                  <a:pt x="8278279" y="2338613"/>
                </a:lnTo>
                <a:lnTo>
                  <a:pt x="827827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82069">
            <a:off x="3354482" y="1098314"/>
            <a:ext cx="7868489" cy="786848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639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82069">
            <a:off x="3985966" y="1092143"/>
            <a:ext cx="7628967" cy="762896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3D5E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886328">
            <a:off x="2931681" y="5732425"/>
            <a:ext cx="1034299" cy="909195"/>
            <a:chOff x="0" y="0"/>
            <a:chExt cx="236006" cy="2074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6006" cy="207460"/>
            </a:xfrm>
            <a:custGeom>
              <a:avLst/>
              <a:gdLst/>
              <a:ahLst/>
              <a:cxnLst/>
              <a:rect r="r" b="b" t="t" l="l"/>
              <a:pathLst>
                <a:path h="207460" w="236006">
                  <a:moveTo>
                    <a:pt x="0" y="0"/>
                  </a:moveTo>
                  <a:lnTo>
                    <a:pt x="236006" y="0"/>
                  </a:lnTo>
                  <a:lnTo>
                    <a:pt x="236006" y="207460"/>
                  </a:lnTo>
                  <a:lnTo>
                    <a:pt x="0" y="207460"/>
                  </a:lnTo>
                  <a:close/>
                </a:path>
              </a:pathLst>
            </a:custGeom>
            <a:solidFill>
              <a:srgbClr val="F2981B"/>
            </a:solidFill>
            <a:ln w="171450" cap="sq">
              <a:solidFill>
                <a:srgbClr val="4E639E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6006" cy="2550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738237">
            <a:off x="889007" y="5737260"/>
            <a:ext cx="2425659" cy="1443845"/>
            <a:chOff x="0" y="0"/>
            <a:chExt cx="553487" cy="3294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3487" cy="329457"/>
            </a:xfrm>
            <a:custGeom>
              <a:avLst/>
              <a:gdLst/>
              <a:ahLst/>
              <a:cxnLst/>
              <a:rect r="r" b="b" t="t" l="l"/>
              <a:pathLst>
                <a:path h="329457" w="553487">
                  <a:moveTo>
                    <a:pt x="162775" y="0"/>
                  </a:moveTo>
                  <a:lnTo>
                    <a:pt x="390712" y="0"/>
                  </a:lnTo>
                  <a:cubicBezTo>
                    <a:pt x="480610" y="0"/>
                    <a:pt x="553487" y="72877"/>
                    <a:pt x="553487" y="162775"/>
                  </a:cubicBezTo>
                  <a:lnTo>
                    <a:pt x="553487" y="166681"/>
                  </a:lnTo>
                  <a:cubicBezTo>
                    <a:pt x="553487" y="209852"/>
                    <a:pt x="536338" y="251255"/>
                    <a:pt x="505811" y="281781"/>
                  </a:cubicBezTo>
                  <a:cubicBezTo>
                    <a:pt x="475285" y="312307"/>
                    <a:pt x="433883" y="329457"/>
                    <a:pt x="390712" y="329457"/>
                  </a:cubicBezTo>
                  <a:lnTo>
                    <a:pt x="162775" y="329457"/>
                  </a:lnTo>
                  <a:cubicBezTo>
                    <a:pt x="119605" y="329457"/>
                    <a:pt x="78202" y="312307"/>
                    <a:pt x="47676" y="281781"/>
                  </a:cubicBezTo>
                  <a:cubicBezTo>
                    <a:pt x="17150" y="251255"/>
                    <a:pt x="0" y="209852"/>
                    <a:pt x="0" y="166681"/>
                  </a:cubicBezTo>
                  <a:lnTo>
                    <a:pt x="0" y="162775"/>
                  </a:lnTo>
                  <a:cubicBezTo>
                    <a:pt x="0" y="119605"/>
                    <a:pt x="17150" y="78202"/>
                    <a:pt x="47676" y="47676"/>
                  </a:cubicBezTo>
                  <a:cubicBezTo>
                    <a:pt x="78202" y="17150"/>
                    <a:pt x="119605" y="0"/>
                    <a:pt x="162775" y="0"/>
                  </a:cubicBezTo>
                  <a:close/>
                </a:path>
              </a:pathLst>
            </a:custGeom>
            <a:solidFill>
              <a:srgbClr val="7284AE"/>
            </a:solidFill>
            <a:ln w="171450" cap="rnd">
              <a:solidFill>
                <a:srgbClr val="4E639E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553487" cy="377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03396" y="4268432"/>
            <a:ext cx="14394106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METODOLOGÍA</a:t>
            </a:r>
          </a:p>
          <a:p>
            <a:pPr algn="ctr" marL="0" indent="0" lvl="0">
              <a:lnSpc>
                <a:spcPts val="8640"/>
              </a:lnSpc>
            </a:pPr>
            <a:r>
              <a:rPr lang="en-US" sz="7200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KANBAN</a:t>
            </a:r>
          </a:p>
        </p:txBody>
      </p:sp>
      <p:sp>
        <p:nvSpPr>
          <p:cNvPr name="Freeform 16" id="16"/>
          <p:cNvSpPr/>
          <p:nvPr/>
        </p:nvSpPr>
        <p:spPr>
          <a:xfrm flipH="false" flipV="true" rot="-10596635">
            <a:off x="2441769" y="7748382"/>
            <a:ext cx="8278279" cy="2338614"/>
          </a:xfrm>
          <a:custGeom>
            <a:avLst/>
            <a:gdLst/>
            <a:ahLst/>
            <a:cxnLst/>
            <a:rect r="r" b="b" t="t" l="l"/>
            <a:pathLst>
              <a:path h="2338614" w="8278279">
                <a:moveTo>
                  <a:pt x="0" y="2338613"/>
                </a:moveTo>
                <a:lnTo>
                  <a:pt x="8278279" y="2338613"/>
                </a:lnTo>
                <a:lnTo>
                  <a:pt x="8278279" y="0"/>
                </a:lnTo>
                <a:lnTo>
                  <a:pt x="0" y="0"/>
                </a:lnTo>
                <a:lnTo>
                  <a:pt x="0" y="23386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781939" y="6459182"/>
            <a:ext cx="7506061" cy="197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true" sz="3200" spc="384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Carlos Alberto Castillo Pinzon</a:t>
            </a:r>
          </a:p>
          <a:p>
            <a:pPr algn="ctr">
              <a:lnSpc>
                <a:spcPts val="3840"/>
              </a:lnSpc>
            </a:pPr>
            <a:r>
              <a:rPr lang="en-US" b="true" sz="3200" spc="384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Mario Alonso Segovia Gutiérrez</a:t>
            </a:r>
          </a:p>
          <a:p>
            <a:pPr algn="ctr">
              <a:lnSpc>
                <a:spcPts val="3840"/>
              </a:lnSpc>
            </a:pPr>
            <a:r>
              <a:rPr lang="en-US" b="true" sz="3200" spc="384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Proyecto de una Plataforma Virtual</a:t>
            </a:r>
          </a:p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 spc="384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28/05/2026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3674" y="3516580"/>
            <a:ext cx="8618101" cy="1309520"/>
            <a:chOff x="0" y="0"/>
            <a:chExt cx="11490801" cy="17460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3583" cy="1091522"/>
            </a:xfrm>
            <a:custGeom>
              <a:avLst/>
              <a:gdLst/>
              <a:ahLst/>
              <a:cxnLst/>
              <a:rect r="r" b="b" t="t" l="l"/>
              <a:pathLst>
                <a:path h="1091522" w="1083583">
                  <a:moveTo>
                    <a:pt x="0" y="0"/>
                  </a:moveTo>
                  <a:lnTo>
                    <a:pt x="1083583" y="0"/>
                  </a:lnTo>
                  <a:lnTo>
                    <a:pt x="1083583" y="1091522"/>
                  </a:lnTo>
                  <a:lnTo>
                    <a:pt x="0" y="1091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80171" y="61710"/>
              <a:ext cx="923241" cy="968103"/>
              <a:chOff x="0" y="0"/>
              <a:chExt cx="812800" cy="85229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52295"/>
              </a:xfrm>
              <a:custGeom>
                <a:avLst/>
                <a:gdLst/>
                <a:ahLst/>
                <a:cxnLst/>
                <a:rect r="r" b="b" t="t" l="l"/>
                <a:pathLst>
                  <a:path h="852295" w="812800">
                    <a:moveTo>
                      <a:pt x="406400" y="0"/>
                    </a:moveTo>
                    <a:cubicBezTo>
                      <a:pt x="181951" y="0"/>
                      <a:pt x="0" y="190793"/>
                      <a:pt x="0" y="426148"/>
                    </a:cubicBezTo>
                    <a:cubicBezTo>
                      <a:pt x="0" y="661503"/>
                      <a:pt x="181951" y="852295"/>
                      <a:pt x="406400" y="852295"/>
                    </a:cubicBezTo>
                    <a:cubicBezTo>
                      <a:pt x="630849" y="852295"/>
                      <a:pt x="812800" y="661503"/>
                      <a:pt x="812800" y="426148"/>
                    </a:cubicBezTo>
                    <a:cubicBezTo>
                      <a:pt x="812800" y="19079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D5EC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13228"/>
                <a:ext cx="660400" cy="75916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4200"/>
                  </a:lnSpc>
                </a:pPr>
                <a:r>
                  <a:rPr lang="en-US" b="true" sz="3000">
                    <a:solidFill>
                      <a:srgbClr val="000000"/>
                    </a:solidFill>
                    <a:latin typeface="Bebas Neue Bold"/>
                    <a:ea typeface="Bebas Neue Bold"/>
                    <a:cs typeface="Bebas Neue Bold"/>
                    <a:sym typeface="Bebas Neue Bold"/>
                  </a:rPr>
                  <a:t>1</a:t>
                </a: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354714" y="136186"/>
              <a:ext cx="10136087" cy="16098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799"/>
                </a:lnSpc>
                <a:spcBef>
                  <a:spcPct val="0"/>
                </a:spcBef>
              </a:pPr>
              <a:r>
                <a:rPr lang="en-US" b="true" sz="3999" spc="479" strike="noStrike" u="none">
                  <a:solidFill>
                    <a:srgbClr val="1F1674"/>
                  </a:solidFill>
                  <a:latin typeface="Bebas Neue Bold"/>
                  <a:ea typeface="Bebas Neue Bold"/>
                  <a:cs typeface="Bebas Neue Bold"/>
                  <a:sym typeface="Bebas Neue Bold"/>
                </a:rPr>
                <a:t>¿Qué es Kanban?</a:t>
              </a:r>
            </a:p>
            <a:p>
              <a:pPr algn="l" marL="0" indent="0" lvl="0">
                <a:lnSpc>
                  <a:spcPts val="4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41935" y="4636161"/>
            <a:ext cx="7602065" cy="284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spc="384">
                <a:solidFill>
                  <a:srgbClr val="1F1674"/>
                </a:solidFill>
                <a:latin typeface="Bebas Neue"/>
                <a:ea typeface="Bebas Neue"/>
                <a:cs typeface="Bebas Neue"/>
                <a:sym typeface="Bebas Neue"/>
              </a:rPr>
              <a:t>Ka</a:t>
            </a:r>
            <a:r>
              <a:rPr lang="en-US" sz="3200" spc="384" strike="noStrike" u="none">
                <a:solidFill>
                  <a:srgbClr val="1F1674"/>
                </a:solidFill>
                <a:latin typeface="Bebas Neue"/>
                <a:ea typeface="Bebas Neue"/>
                <a:cs typeface="Bebas Neue"/>
                <a:sym typeface="Bebas Neue"/>
              </a:rPr>
              <a:t>nban es una metodología ágil utilizada para organizar y administrar el trabajo de manera visual. 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spc="384" strike="noStrike" u="none">
                <a:solidFill>
                  <a:srgbClr val="1F1674"/>
                </a:solidFill>
                <a:latin typeface="Bebas Neue"/>
                <a:ea typeface="Bebas Neue"/>
                <a:cs typeface="Bebas Neue"/>
                <a:sym typeface="Bebas Neue"/>
              </a:rPr>
              <a:t>La palabra proviene del japonés y significa "tarjeta visual" o "señal".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411775" y="3507055"/>
            <a:ext cx="7847525" cy="4371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 spc="479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Objetivos </a:t>
            </a:r>
            <a:r>
              <a:rPr lang="en-US" b="true" sz="3999" spc="479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Principales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spc="384" strike="noStrike" u="none">
                <a:solidFill>
                  <a:srgbClr val="1F1674"/>
                </a:solidFill>
                <a:latin typeface="Bebas Neue"/>
                <a:ea typeface="Bebas Neue"/>
                <a:cs typeface="Bebas Neue"/>
                <a:sym typeface="Bebas Neue"/>
              </a:rPr>
              <a:t>· Visualizar el trabajo y progreso continuo.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spc="384" strike="noStrike" u="none">
                <a:solidFill>
                  <a:srgbClr val="1F1674"/>
                </a:solidFill>
                <a:latin typeface="Bebas Neue"/>
                <a:ea typeface="Bebas Neue"/>
                <a:cs typeface="Bebas Neue"/>
                <a:sym typeface="Bebas Neue"/>
              </a:rPr>
              <a:t>· Controlar y gestionar tareas pendientes.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spc="384" strike="noStrike" u="none">
                <a:solidFill>
                  <a:srgbClr val="1F1674"/>
                </a:solidFill>
                <a:latin typeface="Bebas Neue"/>
                <a:ea typeface="Bebas Neue"/>
                <a:cs typeface="Bebas Neue"/>
                <a:sym typeface="Bebas Neue"/>
              </a:rPr>
              <a:t>· Reducir los tiempos de entrega.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spc="384" strike="noStrike" u="none">
                <a:solidFill>
                  <a:srgbClr val="1F1674"/>
                </a:solidFill>
                <a:latin typeface="Bebas Neue"/>
                <a:ea typeface="Bebas Neue"/>
                <a:cs typeface="Bebas Neue"/>
                <a:sym typeface="Bebas Neue"/>
              </a:rPr>
              <a:t>· Mejorar la productividad general.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3200" spc="384" strike="noStrike" u="none">
                <a:solidFill>
                  <a:srgbClr val="1F1674"/>
                </a:solidFill>
                <a:latin typeface="Bebas Neue"/>
                <a:ea typeface="Bebas Neue"/>
                <a:cs typeface="Bebas Neue"/>
                <a:sym typeface="Bebas Neue"/>
              </a:rPr>
              <a:t>· Detectar cuellos de botella rápidamente.</a:t>
            </a:r>
          </a:p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</a:p>
        </p:txBody>
      </p:sp>
      <p:sp>
        <p:nvSpPr>
          <p:cNvPr name="AutoShape 10" id="10"/>
          <p:cNvSpPr/>
          <p:nvPr/>
        </p:nvSpPr>
        <p:spPr>
          <a:xfrm flipV="true">
            <a:off x="3785869" y="2140130"/>
            <a:ext cx="11092899" cy="19050"/>
          </a:xfrm>
          <a:prstGeom prst="line">
            <a:avLst/>
          </a:prstGeom>
          <a:ln cap="flat" w="57150">
            <a:solidFill>
              <a:srgbClr val="4E639E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1" id="11"/>
          <p:cNvGrpSpPr/>
          <p:nvPr/>
        </p:nvGrpSpPr>
        <p:grpSpPr>
          <a:xfrm rot="0">
            <a:off x="2767488" y="491183"/>
            <a:ext cx="2036762" cy="203676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solidFill>
                <a:srgbClr val="4E639E"/>
              </a:solidFill>
              <a:prstDash val="dash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80546" y="510233"/>
            <a:ext cx="1952280" cy="195228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3D5E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3898927" y="600605"/>
            <a:ext cx="0" cy="270525"/>
          </a:xfrm>
          <a:prstGeom prst="line">
            <a:avLst/>
          </a:prstGeom>
          <a:ln cap="flat" w="38100">
            <a:solidFill>
              <a:srgbClr val="F298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3898927" y="2140130"/>
            <a:ext cx="0" cy="270525"/>
          </a:xfrm>
          <a:prstGeom prst="line">
            <a:avLst/>
          </a:prstGeom>
          <a:ln cap="flat" w="38100">
            <a:solidFill>
              <a:srgbClr val="F298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2970918" y="1528614"/>
            <a:ext cx="270525" cy="0"/>
          </a:xfrm>
          <a:prstGeom prst="line">
            <a:avLst/>
          </a:prstGeom>
          <a:ln cap="flat" w="38100">
            <a:solidFill>
              <a:srgbClr val="F298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3231397" y="914861"/>
            <a:ext cx="227634" cy="146172"/>
          </a:xfrm>
          <a:prstGeom prst="line">
            <a:avLst/>
          </a:prstGeom>
          <a:ln cap="flat" w="38100">
            <a:solidFill>
              <a:srgbClr val="F298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3253799" y="1958026"/>
            <a:ext cx="205895" cy="175474"/>
          </a:xfrm>
          <a:prstGeom prst="line">
            <a:avLst/>
          </a:prstGeom>
          <a:ln cap="flat" w="38100">
            <a:solidFill>
              <a:srgbClr val="F2981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3459031" y="1028902"/>
            <a:ext cx="11556696" cy="1130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00"/>
              </a:lnSpc>
              <a:spcBef>
                <a:spcPct val="0"/>
              </a:spcBef>
            </a:pPr>
            <a:r>
              <a:rPr lang="en-US" sz="6500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DEFI</a:t>
            </a:r>
            <a:r>
              <a:rPr lang="en-US" b="true" sz="6500" strike="noStrike" u="none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NICIÓN Y OBJETIVOS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7807315" y="7731189"/>
            <a:ext cx="2673370" cy="2211606"/>
          </a:xfrm>
          <a:custGeom>
            <a:avLst/>
            <a:gdLst/>
            <a:ahLst/>
            <a:cxnLst/>
            <a:rect r="r" b="b" t="t" l="l"/>
            <a:pathLst>
              <a:path h="2211606" w="2673370">
                <a:moveTo>
                  <a:pt x="0" y="0"/>
                </a:moveTo>
                <a:lnTo>
                  <a:pt x="2673370" y="0"/>
                </a:lnTo>
                <a:lnTo>
                  <a:pt x="2673370" y="2211606"/>
                </a:lnTo>
                <a:lnTo>
                  <a:pt x="0" y="22116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8506" y="653158"/>
            <a:ext cx="14499112" cy="2036762"/>
            <a:chOff x="0" y="0"/>
            <a:chExt cx="19332149" cy="2715683"/>
          </a:xfrm>
        </p:grpSpPr>
        <p:sp>
          <p:nvSpPr>
            <p:cNvPr name="AutoShape 3" id="3"/>
            <p:cNvSpPr/>
            <p:nvPr/>
          </p:nvSpPr>
          <p:spPr>
            <a:xfrm flipV="true">
              <a:off x="1357842" y="2185493"/>
              <a:ext cx="17974226" cy="38504"/>
            </a:xfrm>
            <a:prstGeom prst="line">
              <a:avLst/>
            </a:prstGeom>
            <a:ln cap="flat" w="76200">
              <a:solidFill>
                <a:srgbClr val="4E639E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715683" cy="2715683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solidFill>
                  <a:srgbClr val="4E639E"/>
                </a:solidFill>
                <a:prstDash val="dash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50744" y="25400"/>
              <a:ext cx="2603039" cy="2603039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D5EC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-57150"/>
                <a:ext cx="6604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9799"/>
                  </a:lnSpc>
                </a:pPr>
              </a:p>
            </p:txBody>
          </p:sp>
        </p:grpSp>
        <p:sp>
          <p:nvSpPr>
            <p:cNvPr name="AutoShape 10" id="10"/>
            <p:cNvSpPr/>
            <p:nvPr/>
          </p:nvSpPr>
          <p:spPr>
            <a:xfrm flipV="true">
              <a:off x="1508585" y="145897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 flipV="true">
              <a:off x="1508585" y="2198596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271240" y="1383242"/>
              <a:ext cx="360699" cy="0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618545" y="564904"/>
              <a:ext cx="303512" cy="194896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 flipV="true">
              <a:off x="648415" y="1955791"/>
              <a:ext cx="274526" cy="233965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5" id="15"/>
            <p:cNvSpPr txBox="true"/>
            <p:nvPr/>
          </p:nvSpPr>
          <p:spPr>
            <a:xfrm rot="0">
              <a:off x="356907" y="737207"/>
              <a:ext cx="2190714" cy="13302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3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845269" y="1384837"/>
            <a:ext cx="11783408" cy="863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CONTEXTO Y ORIGEN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64152" y="2200856"/>
            <a:ext cx="8728585" cy="752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1F167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Necesidades Originales</a:t>
            </a:r>
          </a:p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Toyota necesitaba un sistema robusto para:</a:t>
            </a:r>
          </a:p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Reducir desperdicios de material.</a:t>
            </a:r>
          </a:p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Mejorar el flujo de producción.</a:t>
            </a:r>
          </a:p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Controlar inventarios de manera </a:t>
            </a:r>
          </a:p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eficiente ("Just in Time").</a:t>
            </a:r>
          </a:p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Aumentar la eficiencia de los obreros.</a:t>
            </a:r>
          </a:p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trike="noStrike" u="none">
                <a:solidFill>
                  <a:srgbClr val="1F167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* Posteriormente fue adaptado al </a:t>
            </a:r>
          </a:p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trike="noStrike" u="none">
                <a:solidFill>
                  <a:srgbClr val="1F167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desarrollo de software.</a:t>
            </a:r>
          </a:p>
        </p:txBody>
      </p:sp>
      <p:sp>
        <p:nvSpPr>
          <p:cNvPr name="Freeform 18" id="18"/>
          <p:cNvSpPr/>
          <p:nvPr/>
        </p:nvSpPr>
        <p:spPr>
          <a:xfrm flipH="true" flipV="false" rot="0">
            <a:off x="3744628" y="7520164"/>
            <a:ext cx="3580611" cy="2766836"/>
          </a:xfrm>
          <a:custGeom>
            <a:avLst/>
            <a:gdLst/>
            <a:ahLst/>
            <a:cxnLst/>
            <a:rect r="r" b="b" t="t" l="l"/>
            <a:pathLst>
              <a:path h="2766836" w="3580611">
                <a:moveTo>
                  <a:pt x="3580612" y="0"/>
                </a:moveTo>
                <a:lnTo>
                  <a:pt x="0" y="0"/>
                </a:lnTo>
                <a:lnTo>
                  <a:pt x="0" y="2766836"/>
                </a:lnTo>
                <a:lnTo>
                  <a:pt x="3580612" y="2766836"/>
                </a:lnTo>
                <a:lnTo>
                  <a:pt x="358061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31815" y="3031568"/>
            <a:ext cx="7625488" cy="387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1F167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Nacido </a:t>
            </a:r>
            <a:r>
              <a:rPr lang="en-US" b="true" sz="4200" strike="noStrike" u="none">
                <a:solidFill>
                  <a:srgbClr val="1F167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 la Industria</a:t>
            </a:r>
          </a:p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Kanban fue creado por Taiichi Ohno en la empresa Toyota durante la década de 1940. Originalmente no era para software, sino para manufactura.</a:t>
            </a:r>
          </a:p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0197" y="3317266"/>
            <a:ext cx="17784885" cy="6658211"/>
            <a:chOff x="0" y="0"/>
            <a:chExt cx="4684085" cy="17536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4085" cy="1753603"/>
            </a:xfrm>
            <a:custGeom>
              <a:avLst/>
              <a:gdLst/>
              <a:ahLst/>
              <a:cxnLst/>
              <a:rect r="r" b="b" t="t" l="l"/>
              <a:pathLst>
                <a:path h="1753603" w="4684085">
                  <a:moveTo>
                    <a:pt x="22201" y="0"/>
                  </a:moveTo>
                  <a:lnTo>
                    <a:pt x="4661884" y="0"/>
                  </a:lnTo>
                  <a:cubicBezTo>
                    <a:pt x="4667772" y="0"/>
                    <a:pt x="4673419" y="2339"/>
                    <a:pt x="4677583" y="6502"/>
                  </a:cubicBezTo>
                  <a:cubicBezTo>
                    <a:pt x="4681746" y="10666"/>
                    <a:pt x="4684085" y="16313"/>
                    <a:pt x="4684085" y="22201"/>
                  </a:cubicBezTo>
                  <a:lnTo>
                    <a:pt x="4684085" y="1731402"/>
                  </a:lnTo>
                  <a:cubicBezTo>
                    <a:pt x="4684085" y="1737290"/>
                    <a:pt x="4681746" y="1742937"/>
                    <a:pt x="4677583" y="1747100"/>
                  </a:cubicBezTo>
                  <a:cubicBezTo>
                    <a:pt x="4673419" y="1751264"/>
                    <a:pt x="4667772" y="1753603"/>
                    <a:pt x="4661884" y="1753603"/>
                  </a:cubicBezTo>
                  <a:lnTo>
                    <a:pt x="22201" y="1753603"/>
                  </a:lnTo>
                  <a:cubicBezTo>
                    <a:pt x="16313" y="1753603"/>
                    <a:pt x="10666" y="1751264"/>
                    <a:pt x="6502" y="1747100"/>
                  </a:cubicBezTo>
                  <a:cubicBezTo>
                    <a:pt x="2339" y="1742937"/>
                    <a:pt x="0" y="1737290"/>
                    <a:pt x="0" y="1731402"/>
                  </a:cubicBezTo>
                  <a:lnTo>
                    <a:pt x="0" y="22201"/>
                  </a:lnTo>
                  <a:cubicBezTo>
                    <a:pt x="0" y="16313"/>
                    <a:pt x="2339" y="10666"/>
                    <a:pt x="6502" y="6502"/>
                  </a:cubicBezTo>
                  <a:cubicBezTo>
                    <a:pt x="10666" y="2339"/>
                    <a:pt x="16313" y="0"/>
                    <a:pt x="22201" y="0"/>
                  </a:cubicBezTo>
                  <a:close/>
                </a:path>
              </a:pathLst>
            </a:custGeom>
            <a:solidFill>
              <a:srgbClr val="FFA85A"/>
            </a:solidFill>
            <a:ln w="152400" cap="rnd">
              <a:solidFill>
                <a:srgbClr val="4E639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84085" cy="180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08506" y="653158"/>
            <a:ext cx="14499112" cy="2036762"/>
            <a:chOff x="0" y="0"/>
            <a:chExt cx="19332149" cy="2715683"/>
          </a:xfrm>
        </p:grpSpPr>
        <p:sp>
          <p:nvSpPr>
            <p:cNvPr name="AutoShape 6" id="6"/>
            <p:cNvSpPr/>
            <p:nvPr/>
          </p:nvSpPr>
          <p:spPr>
            <a:xfrm flipV="true">
              <a:off x="1357842" y="2185493"/>
              <a:ext cx="17974226" cy="38504"/>
            </a:xfrm>
            <a:prstGeom prst="line">
              <a:avLst/>
            </a:prstGeom>
            <a:ln cap="flat" w="76200">
              <a:solidFill>
                <a:srgbClr val="4E639E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7" id="7"/>
            <p:cNvGrpSpPr/>
            <p:nvPr/>
          </p:nvGrpSpPr>
          <p:grpSpPr>
            <a:xfrm rot="0">
              <a:off x="0" y="0"/>
              <a:ext cx="2715683" cy="2715683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solidFill>
                  <a:srgbClr val="4E639E"/>
                </a:solidFill>
                <a:prstDash val="dash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50744" y="25400"/>
              <a:ext cx="2603039" cy="2603039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D5EC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-57150"/>
                <a:ext cx="6604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9799"/>
                  </a:lnSpc>
                </a:pPr>
              </a:p>
            </p:txBody>
          </p:sp>
        </p:grpSp>
        <p:sp>
          <p:nvSpPr>
            <p:cNvPr name="AutoShape 13" id="13"/>
            <p:cNvSpPr/>
            <p:nvPr/>
          </p:nvSpPr>
          <p:spPr>
            <a:xfrm flipV="true">
              <a:off x="1508585" y="145897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 flipV="true">
              <a:off x="1508585" y="2198596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271240" y="1383242"/>
              <a:ext cx="360699" cy="0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618545" y="564904"/>
              <a:ext cx="303512" cy="194896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 flipV="true">
              <a:off x="648415" y="1955791"/>
              <a:ext cx="274526" cy="233965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3787711" y="1281015"/>
            <a:ext cx="1178340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</a:pPr>
            <a:r>
              <a:rPr lang="en-US" sz="5000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FUNCIONAMIENTO GENERAL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8700" y="3422787"/>
            <a:ext cx="4882879" cy="6447168"/>
            <a:chOff x="0" y="0"/>
            <a:chExt cx="1286026" cy="16980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86026" cy="1698020"/>
            </a:xfrm>
            <a:custGeom>
              <a:avLst/>
              <a:gdLst/>
              <a:ahLst/>
              <a:cxnLst/>
              <a:rect r="r" b="b" t="t" l="l"/>
              <a:pathLst>
                <a:path h="1698020" w="1286026">
                  <a:moveTo>
                    <a:pt x="0" y="0"/>
                  </a:moveTo>
                  <a:lnTo>
                    <a:pt x="1286026" y="0"/>
                  </a:lnTo>
                  <a:lnTo>
                    <a:pt x="1286026" y="1698020"/>
                  </a:lnTo>
                  <a:lnTo>
                    <a:pt x="0" y="1698020"/>
                  </a:lnTo>
                  <a:close/>
                </a:path>
              </a:pathLst>
            </a:custGeom>
            <a:solidFill>
              <a:srgbClr val="E9EAEB"/>
            </a:solidFill>
            <a:ln w="57150" cap="sq">
              <a:solidFill>
                <a:srgbClr val="4E639E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86026" cy="1745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60118" y="3363405"/>
            <a:ext cx="4825321" cy="6506550"/>
            <a:chOff x="0" y="0"/>
            <a:chExt cx="1270867" cy="171365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70867" cy="1713659"/>
            </a:xfrm>
            <a:custGeom>
              <a:avLst/>
              <a:gdLst/>
              <a:ahLst/>
              <a:cxnLst/>
              <a:rect r="r" b="b" t="t" l="l"/>
              <a:pathLst>
                <a:path h="1713659" w="1270867">
                  <a:moveTo>
                    <a:pt x="0" y="0"/>
                  </a:moveTo>
                  <a:lnTo>
                    <a:pt x="1270867" y="0"/>
                  </a:lnTo>
                  <a:lnTo>
                    <a:pt x="1270867" y="1713659"/>
                  </a:lnTo>
                  <a:lnTo>
                    <a:pt x="0" y="1713659"/>
                  </a:lnTo>
                  <a:close/>
                </a:path>
              </a:pathLst>
            </a:custGeom>
            <a:solidFill>
              <a:srgbClr val="E9EAEB"/>
            </a:solidFill>
            <a:ln w="57150" cap="sq">
              <a:solidFill>
                <a:srgbClr val="4E639E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270867" cy="1761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-86190" y="3621814"/>
            <a:ext cx="7244901" cy="70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540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Tabler</a:t>
            </a:r>
            <a:r>
              <a:rPr lang="en-US" b="true" sz="4500" spc="540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 Visual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2103" y="4488182"/>
            <a:ext cx="4568314" cy="492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Kanban utiliza un tablero dividido en columnas que representan el estado del trabajo.           El flujo básico</a:t>
            </a:r>
          </a:p>
          <a:p>
            <a:pPr algn="l">
              <a:lnSpc>
                <a:spcPts val="3920"/>
              </a:lnSpc>
            </a:pPr>
            <a:r>
              <a:rPr lang="en-US" sz="28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generalmente es: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Tareas Pendientes  (To Do)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En Proceso (Doing)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Terminadas (Done)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05398" y="3516293"/>
            <a:ext cx="4462977" cy="139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540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</a:t>
            </a:r>
            <a:r>
              <a:rPr lang="en-US" b="true" sz="4500" spc="540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oceso Paso a Paso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60118" y="4718967"/>
            <a:ext cx="4761748" cy="4433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  La mecánica es sencilla y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  </a:t>
            </a:r>
            <a:r>
              <a:rPr lang="en-US" sz="28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continua: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1. Se crean tareas.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2. Se colocan en el tablero.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3. Cada miembro toma una tarea.</a:t>
            </a:r>
          </a:p>
          <a:p>
            <a:pPr algn="l" marL="604521" indent="-302261" lvl="1">
              <a:lnSpc>
                <a:spcPts val="3920"/>
              </a:lnSpc>
              <a:buFont typeface="Arial"/>
              <a:buChar char="•"/>
            </a:pPr>
            <a:r>
              <a:rPr lang="en-US" sz="28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4. La tarea avanza entre columnas.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433979" y="3393096"/>
            <a:ext cx="4825321" cy="6506550"/>
            <a:chOff x="0" y="0"/>
            <a:chExt cx="1270867" cy="17136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70867" cy="1713659"/>
            </a:xfrm>
            <a:custGeom>
              <a:avLst/>
              <a:gdLst/>
              <a:ahLst/>
              <a:cxnLst/>
              <a:rect r="r" b="b" t="t" l="l"/>
              <a:pathLst>
                <a:path h="1713659" w="1270867">
                  <a:moveTo>
                    <a:pt x="0" y="0"/>
                  </a:moveTo>
                  <a:lnTo>
                    <a:pt x="1270867" y="0"/>
                  </a:lnTo>
                  <a:lnTo>
                    <a:pt x="1270867" y="1713659"/>
                  </a:lnTo>
                  <a:lnTo>
                    <a:pt x="0" y="1713659"/>
                  </a:lnTo>
                  <a:close/>
                </a:path>
              </a:pathLst>
            </a:custGeom>
            <a:solidFill>
              <a:srgbClr val="E9EAEB"/>
            </a:solidFill>
            <a:ln w="57150" cap="sq">
              <a:solidFill>
                <a:srgbClr val="4E639E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270867" cy="1761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671289" y="3375162"/>
            <a:ext cx="4588011" cy="6382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Para que</a:t>
            </a:r>
            <a:r>
              <a:rPr lang="en-US" sz="26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 la metodol</a:t>
            </a:r>
            <a:r>
              <a:rPr lang="en-US" sz="26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ogía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funcione, requiere disciplina en estos principios: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Visualizar siempre el trabajo.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Limitar el Trabajo en Proceso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(WIP).</a:t>
            </a:r>
          </a:p>
          <a:p>
            <a:pPr algn="l" marL="561342" indent="-280671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Mejora continua del proceso.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615151" y="3403737"/>
            <a:ext cx="4462977" cy="70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540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Prin</a:t>
            </a:r>
            <a:r>
              <a:rPr lang="en-US" b="true" sz="4500" spc="540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cipios Core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35644" y="2649538"/>
            <a:ext cx="992743" cy="757903"/>
          </a:xfrm>
          <a:custGeom>
            <a:avLst/>
            <a:gdLst/>
            <a:ahLst/>
            <a:cxnLst/>
            <a:rect r="r" b="b" t="t" l="l"/>
            <a:pathLst>
              <a:path h="757903" w="992743">
                <a:moveTo>
                  <a:pt x="0" y="0"/>
                </a:moveTo>
                <a:lnTo>
                  <a:pt x="992743" y="0"/>
                </a:lnTo>
                <a:lnTo>
                  <a:pt x="992743" y="757903"/>
                </a:lnTo>
                <a:lnTo>
                  <a:pt x="0" y="7579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925" t="-3810" r="-18249" b="-23851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58775" y="2649538"/>
            <a:ext cx="992743" cy="757903"/>
          </a:xfrm>
          <a:custGeom>
            <a:avLst/>
            <a:gdLst/>
            <a:ahLst/>
            <a:cxnLst/>
            <a:rect r="r" b="b" t="t" l="l"/>
            <a:pathLst>
              <a:path h="757903" w="992743">
                <a:moveTo>
                  <a:pt x="0" y="0"/>
                </a:moveTo>
                <a:lnTo>
                  <a:pt x="992743" y="0"/>
                </a:lnTo>
                <a:lnTo>
                  <a:pt x="992743" y="757903"/>
                </a:lnTo>
                <a:lnTo>
                  <a:pt x="0" y="7579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925" t="-3810" r="-18249" b="-238516"/>
            </a:stretch>
          </a:blipFill>
        </p:spPr>
      </p:sp>
      <p:grpSp>
        <p:nvGrpSpPr>
          <p:cNvPr name="Group 4" id="4"/>
          <p:cNvGrpSpPr/>
          <p:nvPr/>
        </p:nvGrpSpPr>
        <p:grpSpPr>
          <a:xfrm rot="5400000">
            <a:off x="8924925" y="971089"/>
            <a:ext cx="438150" cy="4114800"/>
            <a:chOff x="0" y="0"/>
            <a:chExt cx="584200" cy="5486400"/>
          </a:xfrm>
        </p:grpSpPr>
        <p:grpSp>
          <p:nvGrpSpPr>
            <p:cNvPr name="Group 5" id="5"/>
            <p:cNvGrpSpPr/>
            <p:nvPr/>
          </p:nvGrpSpPr>
          <p:grpSpPr>
            <a:xfrm rot="-10800000">
              <a:off x="0" y="2355915"/>
              <a:ext cx="571500" cy="1143000"/>
              <a:chOff x="0" y="0"/>
              <a:chExt cx="4064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4064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06400">
                    <a:moveTo>
                      <a:pt x="406400" y="406400"/>
                    </a:moveTo>
                    <a:lnTo>
                      <a:pt x="0" y="0"/>
                    </a:lnTo>
                    <a:lnTo>
                      <a:pt x="0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0" y="609600"/>
                    </a:lnTo>
                    <a:lnTo>
                      <a:pt x="0" y="812800"/>
                    </a:lnTo>
                    <a:lnTo>
                      <a:pt x="406400" y="406400"/>
                    </a:lnTo>
                    <a:close/>
                  </a:path>
                </a:pathLst>
              </a:custGeom>
              <a:solidFill>
                <a:srgbClr val="61E1FF"/>
              </a:solidFill>
              <a:ln w="57150" cap="sq">
                <a:solidFill>
                  <a:srgbClr val="FFA85A"/>
                </a:solidFill>
                <a:prstDash val="dash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155575"/>
                <a:ext cx="304800" cy="454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sp>
          <p:nvSpPr>
            <p:cNvPr name="AutoShape 8" id="8"/>
            <p:cNvSpPr/>
            <p:nvPr/>
          </p:nvSpPr>
          <p:spPr>
            <a:xfrm>
              <a:off x="539750" y="0"/>
              <a:ext cx="0" cy="5486400"/>
            </a:xfrm>
            <a:prstGeom prst="line">
              <a:avLst/>
            </a:prstGeom>
            <a:ln cap="flat" w="88900">
              <a:solidFill>
                <a:srgbClr val="4E639E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894444" y="3512216"/>
            <a:ext cx="9542585" cy="625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1F167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Roles Flexibles</a:t>
            </a:r>
          </a:p>
          <a:p>
            <a:pPr algn="just" marL="0" indent="0" lvl="0">
              <a:lnSpc>
                <a:spcPts val="420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A diferencia de Scrum, Kanban no impone roles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estrictos, pero frecuentemente participan: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Desarrolladores: Ejecutan la programación.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Diseñadores: Crean interfaces y UX.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Líder de proyecto: Facilita el flujo.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QA/Testers: Aseguran la calidad del producto.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. Product Owner/Cliente: Define los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  <a:r>
              <a:rPr lang="en-US" sz="2299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requerimientos.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10269" y="3512216"/>
            <a:ext cx="9542585" cy="6256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F167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</a:t>
            </a:r>
            <a:r>
              <a:rPr lang="en-US" b="true" sz="3000" strike="noStrike" u="none">
                <a:solidFill>
                  <a:srgbClr val="1F167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olaboración y Distribución</a:t>
            </a:r>
          </a:p>
          <a:p>
            <a:pPr algn="just" marL="0" indent="0" lvl="0">
              <a:lnSpc>
                <a:spcPts val="420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El éxito radica en la sinergia del equipo:</a:t>
            </a:r>
          </a:p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. Responsabilidad Compartida: Todos velan por</a:t>
            </a:r>
          </a:p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el flujo.</a:t>
            </a:r>
          </a:p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Reuniones Cortas: Para sincronizar estado</a:t>
            </a:r>
          </a:p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(Daily).</a:t>
            </a:r>
          </a:p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Transparencia: Todos ven el avance global.</a:t>
            </a:r>
          </a:p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Las tareas se distribuyen según prioridad,</a:t>
            </a:r>
          </a:p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capacidad real del equipo y tiempos de entrega</a:t>
            </a:r>
          </a:p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sz="23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acordados.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894444" y="612775"/>
            <a:ext cx="14499112" cy="2036762"/>
            <a:chOff x="0" y="0"/>
            <a:chExt cx="19332149" cy="2715683"/>
          </a:xfrm>
        </p:grpSpPr>
        <p:sp>
          <p:nvSpPr>
            <p:cNvPr name="AutoShape 12" id="12"/>
            <p:cNvSpPr/>
            <p:nvPr/>
          </p:nvSpPr>
          <p:spPr>
            <a:xfrm flipV="true">
              <a:off x="1357842" y="2185493"/>
              <a:ext cx="17974226" cy="38504"/>
            </a:xfrm>
            <a:prstGeom prst="line">
              <a:avLst/>
            </a:prstGeom>
            <a:ln cap="flat" w="76200">
              <a:solidFill>
                <a:srgbClr val="4E639E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13" id="13"/>
            <p:cNvGrpSpPr/>
            <p:nvPr/>
          </p:nvGrpSpPr>
          <p:grpSpPr>
            <a:xfrm rot="0">
              <a:off x="0" y="0"/>
              <a:ext cx="2715683" cy="2715683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solidFill>
                  <a:srgbClr val="4E639E"/>
                </a:solidFill>
                <a:prstDash val="dash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150744" y="25400"/>
              <a:ext cx="2603039" cy="2603039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D5EC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76200" y="-57150"/>
                <a:ext cx="6604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9799"/>
                  </a:lnSpc>
                </a:pPr>
              </a:p>
            </p:txBody>
          </p:sp>
        </p:grpSp>
        <p:sp>
          <p:nvSpPr>
            <p:cNvPr name="AutoShape 19" id="19"/>
            <p:cNvSpPr/>
            <p:nvPr/>
          </p:nvSpPr>
          <p:spPr>
            <a:xfrm flipV="true">
              <a:off x="1508585" y="145897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 flipV="true">
              <a:off x="1508585" y="2198596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>
              <a:off x="271240" y="1383242"/>
              <a:ext cx="360699" cy="0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>
              <a:off x="618545" y="564904"/>
              <a:ext cx="303512" cy="194896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 flipV="true">
              <a:off x="648415" y="1955791"/>
              <a:ext cx="274526" cy="233965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4235644" y="1365250"/>
            <a:ext cx="10445918" cy="863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ORGANIZACIÓN DEL EQUIPO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94444" y="645577"/>
            <a:ext cx="14499112" cy="2036762"/>
            <a:chOff x="0" y="0"/>
            <a:chExt cx="19332149" cy="2715683"/>
          </a:xfrm>
        </p:grpSpPr>
        <p:sp>
          <p:nvSpPr>
            <p:cNvPr name="AutoShape 3" id="3"/>
            <p:cNvSpPr/>
            <p:nvPr/>
          </p:nvSpPr>
          <p:spPr>
            <a:xfrm flipV="true">
              <a:off x="1357842" y="2185493"/>
              <a:ext cx="17974226" cy="38504"/>
            </a:xfrm>
            <a:prstGeom prst="line">
              <a:avLst/>
            </a:prstGeom>
            <a:ln cap="flat" w="76200">
              <a:solidFill>
                <a:srgbClr val="4E639E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715683" cy="2715683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solidFill>
                  <a:srgbClr val="4E639E"/>
                </a:solidFill>
                <a:prstDash val="dash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50744" y="25400"/>
              <a:ext cx="2603039" cy="2603039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D5EC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-57150"/>
                <a:ext cx="6604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9799"/>
                  </a:lnSpc>
                </a:pPr>
              </a:p>
            </p:txBody>
          </p:sp>
        </p:grpSp>
        <p:sp>
          <p:nvSpPr>
            <p:cNvPr name="AutoShape 10" id="10"/>
            <p:cNvSpPr/>
            <p:nvPr/>
          </p:nvSpPr>
          <p:spPr>
            <a:xfrm flipV="true">
              <a:off x="1508585" y="145897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 flipV="true">
              <a:off x="1508585" y="2198596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271240" y="1383242"/>
              <a:ext cx="360699" cy="0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618545" y="564904"/>
              <a:ext cx="303512" cy="194896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 flipV="true">
              <a:off x="648415" y="1955791"/>
              <a:ext cx="274526" cy="233965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3875192" y="1425039"/>
            <a:ext cx="1266027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</a:pPr>
            <a:r>
              <a:rPr lang="en-US" sz="5000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GES</a:t>
            </a:r>
            <a:r>
              <a:rPr lang="en-US" b="true" sz="5000" strike="noStrike" u="none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TIÓN DE PROYECTOS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924022" y="4543237"/>
            <a:ext cx="4715063" cy="471506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3D5EC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17169" y="5890158"/>
            <a:ext cx="7111965" cy="2869580"/>
            <a:chOff x="0" y="0"/>
            <a:chExt cx="1760731" cy="7104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60731" cy="710431"/>
            </a:xfrm>
            <a:custGeom>
              <a:avLst/>
              <a:gdLst/>
              <a:ahLst/>
              <a:cxnLst/>
              <a:rect r="r" b="b" t="t" l="l"/>
              <a:pathLst>
                <a:path h="710431" w="1760731">
                  <a:moveTo>
                    <a:pt x="55517" y="0"/>
                  </a:moveTo>
                  <a:lnTo>
                    <a:pt x="1705214" y="0"/>
                  </a:lnTo>
                  <a:cubicBezTo>
                    <a:pt x="1719938" y="0"/>
                    <a:pt x="1734059" y="5849"/>
                    <a:pt x="1744471" y="16261"/>
                  </a:cubicBezTo>
                  <a:cubicBezTo>
                    <a:pt x="1754882" y="26672"/>
                    <a:pt x="1760731" y="40793"/>
                    <a:pt x="1760731" y="55517"/>
                  </a:cubicBezTo>
                  <a:lnTo>
                    <a:pt x="1760731" y="654913"/>
                  </a:lnTo>
                  <a:cubicBezTo>
                    <a:pt x="1760731" y="685575"/>
                    <a:pt x="1735875" y="710431"/>
                    <a:pt x="1705214" y="710431"/>
                  </a:cubicBezTo>
                  <a:lnTo>
                    <a:pt x="55517" y="710431"/>
                  </a:lnTo>
                  <a:cubicBezTo>
                    <a:pt x="40793" y="710431"/>
                    <a:pt x="26672" y="704582"/>
                    <a:pt x="16261" y="694170"/>
                  </a:cubicBezTo>
                  <a:cubicBezTo>
                    <a:pt x="5849" y="683759"/>
                    <a:pt x="0" y="669638"/>
                    <a:pt x="0" y="654913"/>
                  </a:cubicBezTo>
                  <a:lnTo>
                    <a:pt x="0" y="55517"/>
                  </a:lnTo>
                  <a:cubicBezTo>
                    <a:pt x="0" y="40793"/>
                    <a:pt x="5849" y="26672"/>
                    <a:pt x="16261" y="16261"/>
                  </a:cubicBezTo>
                  <a:cubicBezTo>
                    <a:pt x="26672" y="5849"/>
                    <a:pt x="40793" y="0"/>
                    <a:pt x="55517" y="0"/>
                  </a:cubicBezTo>
                  <a:close/>
                </a:path>
              </a:pathLst>
            </a:custGeom>
            <a:solidFill>
              <a:srgbClr val="F8FCFF"/>
            </a:solidFill>
            <a:ln w="38100" cap="rnd">
              <a:solidFill>
                <a:srgbClr val="4E639E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760731" cy="758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200377" y="2792280"/>
            <a:ext cx="6162351" cy="2899480"/>
            <a:chOff x="0" y="0"/>
            <a:chExt cx="1519768" cy="71507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9768" cy="715074"/>
            </a:xfrm>
            <a:custGeom>
              <a:avLst/>
              <a:gdLst/>
              <a:ahLst/>
              <a:cxnLst/>
              <a:rect r="r" b="b" t="t" l="l"/>
              <a:pathLst>
                <a:path h="715074" w="1519768">
                  <a:moveTo>
                    <a:pt x="64073" y="0"/>
                  </a:moveTo>
                  <a:lnTo>
                    <a:pt x="1455696" y="0"/>
                  </a:lnTo>
                  <a:cubicBezTo>
                    <a:pt x="1491082" y="0"/>
                    <a:pt x="1519768" y="28686"/>
                    <a:pt x="1519768" y="64073"/>
                  </a:cubicBezTo>
                  <a:lnTo>
                    <a:pt x="1519768" y="651002"/>
                  </a:lnTo>
                  <a:cubicBezTo>
                    <a:pt x="1519768" y="667995"/>
                    <a:pt x="1513018" y="684292"/>
                    <a:pt x="1501002" y="696308"/>
                  </a:cubicBezTo>
                  <a:cubicBezTo>
                    <a:pt x="1488986" y="708324"/>
                    <a:pt x="1472689" y="715074"/>
                    <a:pt x="1455696" y="715074"/>
                  </a:cubicBezTo>
                  <a:lnTo>
                    <a:pt x="64073" y="715074"/>
                  </a:lnTo>
                  <a:cubicBezTo>
                    <a:pt x="28686" y="715074"/>
                    <a:pt x="0" y="686388"/>
                    <a:pt x="0" y="651002"/>
                  </a:cubicBezTo>
                  <a:lnTo>
                    <a:pt x="0" y="64073"/>
                  </a:lnTo>
                  <a:cubicBezTo>
                    <a:pt x="0" y="47079"/>
                    <a:pt x="6750" y="30782"/>
                    <a:pt x="18766" y="18766"/>
                  </a:cubicBezTo>
                  <a:cubicBezTo>
                    <a:pt x="30782" y="6750"/>
                    <a:pt x="47079" y="0"/>
                    <a:pt x="64073" y="0"/>
                  </a:cubicBezTo>
                  <a:close/>
                </a:path>
              </a:pathLst>
            </a:custGeom>
            <a:solidFill>
              <a:srgbClr val="F8FCFF"/>
            </a:solidFill>
            <a:ln w="38100" cap="rnd">
              <a:solidFill>
                <a:srgbClr val="4E639E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519768" cy="762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181491" y="5890158"/>
            <a:ext cx="6698658" cy="2869580"/>
            <a:chOff x="0" y="0"/>
            <a:chExt cx="1764256" cy="7557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64256" cy="755774"/>
            </a:xfrm>
            <a:custGeom>
              <a:avLst/>
              <a:gdLst/>
              <a:ahLst/>
              <a:cxnLst/>
              <a:rect r="r" b="b" t="t" l="l"/>
              <a:pathLst>
                <a:path h="755774" w="1764256">
                  <a:moveTo>
                    <a:pt x="58943" y="0"/>
                  </a:moveTo>
                  <a:lnTo>
                    <a:pt x="1705313" y="0"/>
                  </a:lnTo>
                  <a:cubicBezTo>
                    <a:pt x="1720946" y="0"/>
                    <a:pt x="1735938" y="6210"/>
                    <a:pt x="1746992" y="17264"/>
                  </a:cubicBezTo>
                  <a:cubicBezTo>
                    <a:pt x="1758046" y="28318"/>
                    <a:pt x="1764256" y="43310"/>
                    <a:pt x="1764256" y="58943"/>
                  </a:cubicBezTo>
                  <a:lnTo>
                    <a:pt x="1764256" y="696831"/>
                  </a:lnTo>
                  <a:cubicBezTo>
                    <a:pt x="1764256" y="729385"/>
                    <a:pt x="1737866" y="755774"/>
                    <a:pt x="1705313" y="755774"/>
                  </a:cubicBezTo>
                  <a:lnTo>
                    <a:pt x="58943" y="755774"/>
                  </a:lnTo>
                  <a:cubicBezTo>
                    <a:pt x="26390" y="755774"/>
                    <a:pt x="0" y="729385"/>
                    <a:pt x="0" y="696831"/>
                  </a:cubicBezTo>
                  <a:lnTo>
                    <a:pt x="0" y="58943"/>
                  </a:lnTo>
                  <a:cubicBezTo>
                    <a:pt x="0" y="26390"/>
                    <a:pt x="26390" y="0"/>
                    <a:pt x="58943" y="0"/>
                  </a:cubicBezTo>
                  <a:close/>
                </a:path>
              </a:pathLst>
            </a:custGeom>
            <a:solidFill>
              <a:srgbClr val="F8FCFF"/>
            </a:solidFill>
            <a:ln w="38100" cap="rnd">
              <a:solidFill>
                <a:srgbClr val="4E639E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764256" cy="803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362844" y="2924306"/>
            <a:ext cx="5946256" cy="2727651"/>
            <a:chOff x="0" y="0"/>
            <a:chExt cx="1466475" cy="67269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6475" cy="672697"/>
            </a:xfrm>
            <a:custGeom>
              <a:avLst/>
              <a:gdLst/>
              <a:ahLst/>
              <a:cxnLst/>
              <a:rect r="r" b="b" t="t" l="l"/>
              <a:pathLst>
                <a:path h="672697" w="1466475">
                  <a:moveTo>
                    <a:pt x="66401" y="0"/>
                  </a:moveTo>
                  <a:lnTo>
                    <a:pt x="1400074" y="0"/>
                  </a:lnTo>
                  <a:cubicBezTo>
                    <a:pt x="1417684" y="0"/>
                    <a:pt x="1434574" y="6996"/>
                    <a:pt x="1447026" y="19448"/>
                  </a:cubicBezTo>
                  <a:cubicBezTo>
                    <a:pt x="1459479" y="31901"/>
                    <a:pt x="1466475" y="48790"/>
                    <a:pt x="1466475" y="66401"/>
                  </a:cubicBezTo>
                  <a:lnTo>
                    <a:pt x="1466475" y="606296"/>
                  </a:lnTo>
                  <a:cubicBezTo>
                    <a:pt x="1466475" y="642969"/>
                    <a:pt x="1436746" y="672697"/>
                    <a:pt x="1400074" y="672697"/>
                  </a:cubicBezTo>
                  <a:lnTo>
                    <a:pt x="66401" y="672697"/>
                  </a:lnTo>
                  <a:cubicBezTo>
                    <a:pt x="29729" y="672697"/>
                    <a:pt x="0" y="642969"/>
                    <a:pt x="0" y="606296"/>
                  </a:cubicBezTo>
                  <a:lnTo>
                    <a:pt x="0" y="66401"/>
                  </a:lnTo>
                  <a:cubicBezTo>
                    <a:pt x="0" y="29729"/>
                    <a:pt x="29729" y="0"/>
                    <a:pt x="66401" y="0"/>
                  </a:cubicBezTo>
                  <a:close/>
                </a:path>
              </a:pathLst>
            </a:custGeom>
            <a:solidFill>
              <a:srgbClr val="61E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466475" cy="720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217943" y="6020678"/>
            <a:ext cx="6463757" cy="2698661"/>
            <a:chOff x="0" y="0"/>
            <a:chExt cx="1702389" cy="71075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02389" cy="710758"/>
            </a:xfrm>
            <a:custGeom>
              <a:avLst/>
              <a:gdLst/>
              <a:ahLst/>
              <a:cxnLst/>
              <a:rect r="r" b="b" t="t" l="l"/>
              <a:pathLst>
                <a:path h="710758" w="1702389">
                  <a:moveTo>
                    <a:pt x="61085" y="0"/>
                  </a:moveTo>
                  <a:lnTo>
                    <a:pt x="1641304" y="0"/>
                  </a:lnTo>
                  <a:cubicBezTo>
                    <a:pt x="1657504" y="0"/>
                    <a:pt x="1673041" y="6436"/>
                    <a:pt x="1684497" y="17891"/>
                  </a:cubicBezTo>
                  <a:cubicBezTo>
                    <a:pt x="1695953" y="29347"/>
                    <a:pt x="1702389" y="44884"/>
                    <a:pt x="1702389" y="61085"/>
                  </a:cubicBezTo>
                  <a:lnTo>
                    <a:pt x="1702389" y="649674"/>
                  </a:lnTo>
                  <a:cubicBezTo>
                    <a:pt x="1702389" y="665874"/>
                    <a:pt x="1695953" y="681411"/>
                    <a:pt x="1684497" y="692867"/>
                  </a:cubicBezTo>
                  <a:cubicBezTo>
                    <a:pt x="1673041" y="704323"/>
                    <a:pt x="1657504" y="710758"/>
                    <a:pt x="1641304" y="710758"/>
                  </a:cubicBezTo>
                  <a:lnTo>
                    <a:pt x="61085" y="710758"/>
                  </a:lnTo>
                  <a:cubicBezTo>
                    <a:pt x="44884" y="710758"/>
                    <a:pt x="29347" y="704323"/>
                    <a:pt x="17891" y="692867"/>
                  </a:cubicBezTo>
                  <a:cubicBezTo>
                    <a:pt x="6436" y="681411"/>
                    <a:pt x="0" y="665874"/>
                    <a:pt x="0" y="649674"/>
                  </a:cubicBezTo>
                  <a:lnTo>
                    <a:pt x="0" y="61085"/>
                  </a:lnTo>
                  <a:cubicBezTo>
                    <a:pt x="0" y="44884"/>
                    <a:pt x="6436" y="29347"/>
                    <a:pt x="17891" y="17891"/>
                  </a:cubicBezTo>
                  <a:cubicBezTo>
                    <a:pt x="29347" y="6436"/>
                    <a:pt x="44884" y="0"/>
                    <a:pt x="61085" y="0"/>
                  </a:cubicBezTo>
                  <a:close/>
                </a:path>
              </a:pathLst>
            </a:custGeom>
            <a:solidFill>
              <a:srgbClr val="9ACEE2"/>
            </a:solidFill>
            <a:ln cap="rnd">
              <a:noFill/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702389" cy="75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902060" y="5521276"/>
            <a:ext cx="3063785" cy="306378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639E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51099" y="6015192"/>
            <a:ext cx="6862569" cy="2698661"/>
            <a:chOff x="0" y="0"/>
            <a:chExt cx="1698988" cy="6681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98988" cy="668116"/>
            </a:xfrm>
            <a:custGeom>
              <a:avLst/>
              <a:gdLst/>
              <a:ahLst/>
              <a:cxnLst/>
              <a:rect r="r" b="b" t="t" l="l"/>
              <a:pathLst>
                <a:path h="668116" w="1698988">
                  <a:moveTo>
                    <a:pt x="57535" y="0"/>
                  </a:moveTo>
                  <a:lnTo>
                    <a:pt x="1641453" y="0"/>
                  </a:lnTo>
                  <a:cubicBezTo>
                    <a:pt x="1673228" y="0"/>
                    <a:pt x="1698988" y="25759"/>
                    <a:pt x="1698988" y="57535"/>
                  </a:cubicBezTo>
                  <a:lnTo>
                    <a:pt x="1698988" y="610581"/>
                  </a:lnTo>
                  <a:cubicBezTo>
                    <a:pt x="1698988" y="625840"/>
                    <a:pt x="1692926" y="640474"/>
                    <a:pt x="1682136" y="651264"/>
                  </a:cubicBezTo>
                  <a:cubicBezTo>
                    <a:pt x="1671346" y="662054"/>
                    <a:pt x="1656712" y="668116"/>
                    <a:pt x="1641453" y="668116"/>
                  </a:cubicBezTo>
                  <a:lnTo>
                    <a:pt x="57535" y="668116"/>
                  </a:lnTo>
                  <a:cubicBezTo>
                    <a:pt x="42276" y="668116"/>
                    <a:pt x="27642" y="662054"/>
                    <a:pt x="16852" y="651264"/>
                  </a:cubicBezTo>
                  <a:cubicBezTo>
                    <a:pt x="6062" y="640474"/>
                    <a:pt x="0" y="625840"/>
                    <a:pt x="0" y="610581"/>
                  </a:cubicBezTo>
                  <a:lnTo>
                    <a:pt x="0" y="57535"/>
                  </a:lnTo>
                  <a:cubicBezTo>
                    <a:pt x="0" y="42276"/>
                    <a:pt x="6062" y="27642"/>
                    <a:pt x="16852" y="16852"/>
                  </a:cubicBezTo>
                  <a:cubicBezTo>
                    <a:pt x="27642" y="6062"/>
                    <a:pt x="42276" y="0"/>
                    <a:pt x="57535" y="0"/>
                  </a:cubicBezTo>
                  <a:close/>
                </a:path>
              </a:pathLst>
            </a:custGeom>
            <a:solidFill>
              <a:srgbClr val="FFA85A"/>
            </a:solidFill>
            <a:ln cap="rnd">
              <a:noFill/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698988" cy="715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792469" y="5541716"/>
            <a:ext cx="3063785" cy="3063785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AEB"/>
            </a:solidFill>
            <a:ln w="76200" cap="sq">
              <a:solidFill>
                <a:srgbClr val="4E639E"/>
              </a:solidFill>
              <a:prstDash val="lgDash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-7655156">
            <a:off x="8181590" y="5944688"/>
            <a:ext cx="1323714" cy="915678"/>
            <a:chOff x="0" y="0"/>
            <a:chExt cx="812800" cy="56225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562253"/>
            </a:xfrm>
            <a:custGeom>
              <a:avLst/>
              <a:gdLst/>
              <a:ahLst/>
              <a:cxnLst/>
              <a:rect r="r" b="b" t="t" l="l"/>
              <a:pathLst>
                <a:path h="562253" w="812800">
                  <a:moveTo>
                    <a:pt x="812800" y="281127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59053"/>
                  </a:lnTo>
                  <a:lnTo>
                    <a:pt x="406400" y="359053"/>
                  </a:lnTo>
                  <a:lnTo>
                    <a:pt x="406400" y="562253"/>
                  </a:lnTo>
                  <a:lnTo>
                    <a:pt x="812800" y="281127"/>
                  </a:lnTo>
                  <a:close/>
                </a:path>
              </a:pathLst>
            </a:custGeom>
            <a:solidFill>
              <a:srgbClr val="61E1FF"/>
            </a:solidFill>
            <a:ln w="38100" cap="sq">
              <a:solidFill>
                <a:srgbClr val="4E639E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155575"/>
              <a:ext cx="711200" cy="203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843447" y="6467478"/>
            <a:ext cx="961831" cy="961831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1E1FF"/>
            </a:solidFill>
            <a:ln w="38100" cap="sq">
              <a:solidFill>
                <a:srgbClr val="4E639E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6433447" y="2980439"/>
            <a:ext cx="5805050" cy="2540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true" sz="3200" spc="384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Priorización</a:t>
            </a:r>
          </a:p>
          <a:p>
            <a:pPr algn="ctr">
              <a:lnSpc>
                <a:spcPts val="3240"/>
              </a:lnSpc>
            </a:pPr>
          </a:p>
          <a:p>
            <a:pPr algn="ctr">
              <a:lnSpc>
                <a:spcPts val="3240"/>
              </a:lnSpc>
            </a:pPr>
            <a:r>
              <a:rPr lang="en-US" b="true" sz="2700" spc="324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Las tareas </a:t>
            </a:r>
            <a:r>
              <a:rPr lang="en-US" b="true" sz="2700" spc="324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urgentes se colocan al</a:t>
            </a:r>
          </a:p>
          <a:p>
            <a:pPr algn="ctr">
              <a:lnSpc>
                <a:spcPts val="3240"/>
              </a:lnSpc>
            </a:pPr>
            <a:r>
              <a:rPr lang="en-US" b="true" sz="2700" spc="324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inicio. El equipo toma (pull) tareas</a:t>
            </a:r>
          </a:p>
          <a:p>
            <a:pPr algn="ctr">
              <a:lnSpc>
                <a:spcPts val="3240"/>
              </a:lnSpc>
            </a:pPr>
            <a:r>
              <a:rPr lang="en-US" b="true" sz="2700" spc="324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de la parte superior del tablero</a:t>
            </a:r>
          </a:p>
          <a:p>
            <a:pPr algn="ctr">
              <a:lnSpc>
                <a:spcPts val="3240"/>
              </a:lnSpc>
            </a:pPr>
            <a:r>
              <a:rPr lang="en-US" b="true" sz="2700" spc="324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basándose en prioridad.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202626" y="6104764"/>
            <a:ext cx="5341051" cy="2540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true" sz="3200" spc="384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Herramientas Digitales</a:t>
            </a:r>
          </a:p>
          <a:p>
            <a:pPr algn="ctr">
              <a:lnSpc>
                <a:spcPts val="3239"/>
              </a:lnSpc>
            </a:pPr>
          </a:p>
          <a:p>
            <a:pPr algn="ctr">
              <a:lnSpc>
                <a:spcPts val="3239"/>
              </a:lnSpc>
            </a:pPr>
            <a:r>
              <a:rPr lang="en-US" b="true" sz="2699" spc="323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El tablero físico hoy se</a:t>
            </a:r>
          </a:p>
          <a:p>
            <a:pPr algn="ctr">
              <a:lnSpc>
                <a:spcPts val="3239"/>
              </a:lnSpc>
            </a:pPr>
            <a:r>
              <a:rPr lang="en-US" b="true" sz="2699" spc="323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</a:t>
            </a:r>
            <a:r>
              <a:rPr lang="en-US" b="true" sz="2699" spc="323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omplementa con potentes</a:t>
            </a:r>
          </a:p>
          <a:p>
            <a:pPr algn="ctr">
              <a:lnSpc>
                <a:spcPts val="3239"/>
              </a:lnSpc>
            </a:pPr>
            <a:r>
              <a:rPr lang="en-US" b="true" sz="2699" spc="323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herramientas de software como</a:t>
            </a:r>
          </a:p>
          <a:p>
            <a:pPr algn="ctr">
              <a:lnSpc>
                <a:spcPts val="3239"/>
              </a:lnSpc>
            </a:pPr>
            <a:r>
              <a:rPr lang="en-US" b="true" sz="2699" spc="323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Trello, Jira, Asana o Monday.com.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856255" y="6104764"/>
            <a:ext cx="5416466" cy="2540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true" sz="3200" spc="384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Control de Avance</a:t>
            </a:r>
          </a:p>
          <a:p>
            <a:pPr algn="ctr">
              <a:lnSpc>
                <a:spcPts val="3240"/>
              </a:lnSpc>
            </a:pPr>
          </a:p>
          <a:p>
            <a:pPr algn="ctr">
              <a:lnSpc>
                <a:spcPts val="3240"/>
              </a:lnSpc>
            </a:pPr>
            <a:r>
              <a:rPr lang="en-US" b="true" sz="2700" spc="324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El progreso</a:t>
            </a:r>
            <a:r>
              <a:rPr lang="en-US" b="true" sz="2700" spc="324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se monitorea</a:t>
            </a:r>
          </a:p>
          <a:p>
            <a:pPr algn="ctr">
              <a:lnSpc>
                <a:spcPts val="3240"/>
              </a:lnSpc>
            </a:pPr>
            <a:r>
              <a:rPr lang="en-US" b="true" sz="2700" spc="324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mediante la cantidad de tareas</a:t>
            </a:r>
          </a:p>
          <a:p>
            <a:pPr algn="ctr">
              <a:lnSpc>
                <a:spcPts val="3240"/>
              </a:lnSpc>
            </a:pPr>
            <a:r>
              <a:rPr lang="en-US" b="true" sz="2700" spc="324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terminadas, tiempo de resolución</a:t>
            </a:r>
          </a:p>
          <a:p>
            <a:pPr algn="ctr">
              <a:lnSpc>
                <a:spcPts val="3240"/>
              </a:lnSpc>
            </a:pPr>
            <a:r>
              <a:rPr lang="en-US" b="true" sz="2700" spc="324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y análisis de cuellos de botella.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8900597" y="6543678"/>
            <a:ext cx="809431" cy="809431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3D5EC"/>
            </a:solidFill>
            <a:ln w="38100" cap="sq">
              <a:solidFill>
                <a:srgbClr val="4E639E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9761" y="3703265"/>
            <a:ext cx="5468953" cy="2788917"/>
            <a:chOff x="0" y="0"/>
            <a:chExt cx="1440383" cy="7345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0383" cy="734530"/>
            </a:xfrm>
            <a:custGeom>
              <a:avLst/>
              <a:gdLst/>
              <a:ahLst/>
              <a:cxnLst/>
              <a:rect r="r" b="b" t="t" l="l"/>
              <a:pathLst>
                <a:path h="734530" w="1440383">
                  <a:moveTo>
                    <a:pt x="42468" y="0"/>
                  </a:moveTo>
                  <a:lnTo>
                    <a:pt x="1397914" y="0"/>
                  </a:lnTo>
                  <a:cubicBezTo>
                    <a:pt x="1409178" y="0"/>
                    <a:pt x="1419980" y="4474"/>
                    <a:pt x="1427944" y="12439"/>
                  </a:cubicBezTo>
                  <a:cubicBezTo>
                    <a:pt x="1435908" y="20403"/>
                    <a:pt x="1440383" y="31205"/>
                    <a:pt x="1440383" y="42468"/>
                  </a:cubicBezTo>
                  <a:lnTo>
                    <a:pt x="1440383" y="692061"/>
                  </a:lnTo>
                  <a:cubicBezTo>
                    <a:pt x="1440383" y="703325"/>
                    <a:pt x="1435908" y="714127"/>
                    <a:pt x="1427944" y="722091"/>
                  </a:cubicBezTo>
                  <a:cubicBezTo>
                    <a:pt x="1419980" y="730055"/>
                    <a:pt x="1409178" y="734530"/>
                    <a:pt x="1397914" y="734530"/>
                  </a:cubicBezTo>
                  <a:lnTo>
                    <a:pt x="42468" y="734530"/>
                  </a:lnTo>
                  <a:cubicBezTo>
                    <a:pt x="31205" y="734530"/>
                    <a:pt x="20403" y="730055"/>
                    <a:pt x="12439" y="722091"/>
                  </a:cubicBezTo>
                  <a:cubicBezTo>
                    <a:pt x="4474" y="714127"/>
                    <a:pt x="0" y="703325"/>
                    <a:pt x="0" y="692061"/>
                  </a:cubicBezTo>
                  <a:lnTo>
                    <a:pt x="0" y="42468"/>
                  </a:lnTo>
                  <a:cubicBezTo>
                    <a:pt x="0" y="31205"/>
                    <a:pt x="4474" y="20403"/>
                    <a:pt x="12439" y="12439"/>
                  </a:cubicBezTo>
                  <a:cubicBezTo>
                    <a:pt x="20403" y="4474"/>
                    <a:pt x="31205" y="0"/>
                    <a:pt x="42468" y="0"/>
                  </a:cubicBezTo>
                  <a:close/>
                </a:path>
              </a:pathLst>
            </a:custGeom>
            <a:solidFill>
              <a:srgbClr val="C3D5EC"/>
            </a:solidFill>
            <a:ln w="104775" cap="rnd">
              <a:solidFill>
                <a:srgbClr val="4E639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440383" cy="791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1F167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Organización visual</a:t>
              </a:r>
            </a:p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Permite v</a:t>
              </a:r>
              <a:r>
                <a:rPr lang="en-US" sz="2500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er el panorama completo del</a:t>
              </a:r>
            </a:p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proyecto en un solo vistazo.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94444" y="612775"/>
            <a:ext cx="14499112" cy="2036762"/>
            <a:chOff x="0" y="0"/>
            <a:chExt cx="19332149" cy="2715683"/>
          </a:xfrm>
        </p:grpSpPr>
        <p:sp>
          <p:nvSpPr>
            <p:cNvPr name="AutoShape 6" id="6"/>
            <p:cNvSpPr/>
            <p:nvPr/>
          </p:nvSpPr>
          <p:spPr>
            <a:xfrm flipV="true">
              <a:off x="1357842" y="2185493"/>
              <a:ext cx="17974226" cy="38504"/>
            </a:xfrm>
            <a:prstGeom prst="line">
              <a:avLst/>
            </a:prstGeom>
            <a:ln cap="flat" w="76200">
              <a:solidFill>
                <a:srgbClr val="4E639E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7" id="7"/>
            <p:cNvGrpSpPr/>
            <p:nvPr/>
          </p:nvGrpSpPr>
          <p:grpSpPr>
            <a:xfrm rot="0">
              <a:off x="0" y="0"/>
              <a:ext cx="2715683" cy="2715683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solidFill>
                  <a:srgbClr val="4E639E"/>
                </a:solidFill>
                <a:prstDash val="dash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50744" y="25400"/>
              <a:ext cx="2603039" cy="2603039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D5EC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-57150"/>
                <a:ext cx="6604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9799"/>
                  </a:lnSpc>
                </a:pPr>
              </a:p>
            </p:txBody>
          </p:sp>
        </p:grpSp>
        <p:sp>
          <p:nvSpPr>
            <p:cNvPr name="AutoShape 13" id="13"/>
            <p:cNvSpPr/>
            <p:nvPr/>
          </p:nvSpPr>
          <p:spPr>
            <a:xfrm flipV="true">
              <a:off x="1508585" y="145897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 flipV="true">
              <a:off x="1508585" y="2198596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271240" y="1383242"/>
              <a:ext cx="360699" cy="0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618545" y="564904"/>
              <a:ext cx="303512" cy="194896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 flipV="true">
              <a:off x="648415" y="1955791"/>
              <a:ext cx="274526" cy="233965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4039425" y="1317578"/>
            <a:ext cx="11369508" cy="863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V</a:t>
            </a:r>
            <a:r>
              <a:rPr lang="en-US" b="true" sz="5000" strike="noStrike" u="none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ENTAJAS DE KANBAN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495889" y="3703265"/>
            <a:ext cx="5523251" cy="2788917"/>
            <a:chOff x="0" y="0"/>
            <a:chExt cx="1454683" cy="7345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54683" cy="734530"/>
            </a:xfrm>
            <a:custGeom>
              <a:avLst/>
              <a:gdLst/>
              <a:ahLst/>
              <a:cxnLst/>
              <a:rect r="r" b="b" t="t" l="l"/>
              <a:pathLst>
                <a:path h="734530" w="1454683">
                  <a:moveTo>
                    <a:pt x="42051" y="0"/>
                  </a:moveTo>
                  <a:lnTo>
                    <a:pt x="1412632" y="0"/>
                  </a:lnTo>
                  <a:cubicBezTo>
                    <a:pt x="1423785" y="0"/>
                    <a:pt x="1434481" y="4430"/>
                    <a:pt x="1442367" y="12316"/>
                  </a:cubicBezTo>
                  <a:cubicBezTo>
                    <a:pt x="1450253" y="20202"/>
                    <a:pt x="1454683" y="30898"/>
                    <a:pt x="1454683" y="42051"/>
                  </a:cubicBezTo>
                  <a:lnTo>
                    <a:pt x="1454683" y="692479"/>
                  </a:lnTo>
                  <a:cubicBezTo>
                    <a:pt x="1454683" y="715703"/>
                    <a:pt x="1435856" y="734530"/>
                    <a:pt x="1412632" y="734530"/>
                  </a:cubicBezTo>
                  <a:lnTo>
                    <a:pt x="42051" y="734530"/>
                  </a:lnTo>
                  <a:cubicBezTo>
                    <a:pt x="30898" y="734530"/>
                    <a:pt x="20202" y="730099"/>
                    <a:pt x="12316" y="722213"/>
                  </a:cubicBezTo>
                  <a:cubicBezTo>
                    <a:pt x="4430" y="714327"/>
                    <a:pt x="0" y="703631"/>
                    <a:pt x="0" y="692479"/>
                  </a:cubicBezTo>
                  <a:lnTo>
                    <a:pt x="0" y="42051"/>
                  </a:lnTo>
                  <a:cubicBezTo>
                    <a:pt x="0" y="30898"/>
                    <a:pt x="4430" y="20202"/>
                    <a:pt x="12316" y="12316"/>
                  </a:cubicBezTo>
                  <a:cubicBezTo>
                    <a:pt x="20202" y="4430"/>
                    <a:pt x="30898" y="0"/>
                    <a:pt x="42051" y="0"/>
                  </a:cubicBezTo>
                  <a:close/>
                </a:path>
              </a:pathLst>
            </a:custGeom>
            <a:solidFill>
              <a:srgbClr val="C3D5EC"/>
            </a:solidFill>
            <a:ln w="104775" cap="rnd">
              <a:solidFill>
                <a:srgbClr val="4E639E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454683" cy="791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1F167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Flexibilidad ante cambios</a:t>
              </a:r>
            </a:p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Permite v</a:t>
              </a:r>
              <a:r>
                <a:rPr lang="en-US" sz="2500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er el panorama completo del</a:t>
              </a:r>
            </a:p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proyecto en un solo vistazo.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274740" y="3703265"/>
            <a:ext cx="5505499" cy="2788917"/>
            <a:chOff x="0" y="0"/>
            <a:chExt cx="1450008" cy="7345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50008" cy="734530"/>
            </a:xfrm>
            <a:custGeom>
              <a:avLst/>
              <a:gdLst/>
              <a:ahLst/>
              <a:cxnLst/>
              <a:rect r="r" b="b" t="t" l="l"/>
              <a:pathLst>
                <a:path h="734530" w="1450008">
                  <a:moveTo>
                    <a:pt x="42186" y="0"/>
                  </a:moveTo>
                  <a:lnTo>
                    <a:pt x="1407822" y="0"/>
                  </a:lnTo>
                  <a:cubicBezTo>
                    <a:pt x="1419010" y="0"/>
                    <a:pt x="1429740" y="4445"/>
                    <a:pt x="1437652" y="12356"/>
                  </a:cubicBezTo>
                  <a:cubicBezTo>
                    <a:pt x="1445563" y="20268"/>
                    <a:pt x="1450008" y="30998"/>
                    <a:pt x="1450008" y="42186"/>
                  </a:cubicBezTo>
                  <a:lnTo>
                    <a:pt x="1450008" y="692343"/>
                  </a:lnTo>
                  <a:cubicBezTo>
                    <a:pt x="1450008" y="703532"/>
                    <a:pt x="1445563" y="714262"/>
                    <a:pt x="1437652" y="722174"/>
                  </a:cubicBezTo>
                  <a:cubicBezTo>
                    <a:pt x="1429740" y="730085"/>
                    <a:pt x="1419010" y="734530"/>
                    <a:pt x="1407822" y="734530"/>
                  </a:cubicBezTo>
                  <a:lnTo>
                    <a:pt x="42186" y="734530"/>
                  </a:lnTo>
                  <a:cubicBezTo>
                    <a:pt x="30998" y="734530"/>
                    <a:pt x="20268" y="730085"/>
                    <a:pt x="12356" y="722174"/>
                  </a:cubicBezTo>
                  <a:cubicBezTo>
                    <a:pt x="4445" y="714262"/>
                    <a:pt x="0" y="703532"/>
                    <a:pt x="0" y="692343"/>
                  </a:cubicBezTo>
                  <a:lnTo>
                    <a:pt x="0" y="42186"/>
                  </a:lnTo>
                  <a:cubicBezTo>
                    <a:pt x="0" y="30998"/>
                    <a:pt x="4445" y="20268"/>
                    <a:pt x="12356" y="12356"/>
                  </a:cubicBezTo>
                  <a:cubicBezTo>
                    <a:pt x="20268" y="4445"/>
                    <a:pt x="30998" y="0"/>
                    <a:pt x="42186" y="0"/>
                  </a:cubicBezTo>
                  <a:close/>
                </a:path>
              </a:pathLst>
            </a:custGeom>
            <a:solidFill>
              <a:srgbClr val="C3D5EC"/>
            </a:solidFill>
            <a:ln w="104775" cap="rnd">
              <a:solidFill>
                <a:srgbClr val="4E639E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450008" cy="791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1F167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Identificación de problemas</a:t>
              </a:r>
            </a:p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Los cuellos de botella se hacen</a:t>
              </a:r>
            </a:p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evidentes cuando las tarjetas se</a:t>
              </a:r>
            </a:p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acumulan.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69761" y="6860176"/>
            <a:ext cx="5400438" cy="2788917"/>
            <a:chOff x="0" y="0"/>
            <a:chExt cx="1422338" cy="73453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22338" cy="734530"/>
            </a:xfrm>
            <a:custGeom>
              <a:avLst/>
              <a:gdLst/>
              <a:ahLst/>
              <a:cxnLst/>
              <a:rect r="r" b="b" t="t" l="l"/>
              <a:pathLst>
                <a:path h="734530" w="1422338">
                  <a:moveTo>
                    <a:pt x="43007" y="0"/>
                  </a:moveTo>
                  <a:lnTo>
                    <a:pt x="1379330" y="0"/>
                  </a:lnTo>
                  <a:cubicBezTo>
                    <a:pt x="1403083" y="0"/>
                    <a:pt x="1422338" y="19255"/>
                    <a:pt x="1422338" y="43007"/>
                  </a:cubicBezTo>
                  <a:lnTo>
                    <a:pt x="1422338" y="691522"/>
                  </a:lnTo>
                  <a:cubicBezTo>
                    <a:pt x="1422338" y="715275"/>
                    <a:pt x="1403083" y="734530"/>
                    <a:pt x="1379330" y="734530"/>
                  </a:cubicBezTo>
                  <a:lnTo>
                    <a:pt x="43007" y="734530"/>
                  </a:lnTo>
                  <a:cubicBezTo>
                    <a:pt x="19255" y="734530"/>
                    <a:pt x="0" y="715275"/>
                    <a:pt x="0" y="691522"/>
                  </a:cubicBezTo>
                  <a:lnTo>
                    <a:pt x="0" y="43007"/>
                  </a:lnTo>
                  <a:cubicBezTo>
                    <a:pt x="0" y="19255"/>
                    <a:pt x="19255" y="0"/>
                    <a:pt x="43007" y="0"/>
                  </a:cubicBezTo>
                  <a:close/>
                </a:path>
              </a:pathLst>
            </a:custGeom>
            <a:solidFill>
              <a:srgbClr val="C3D5EC"/>
            </a:solidFill>
            <a:ln w="104775" cap="rnd">
              <a:solidFill>
                <a:srgbClr val="4E639E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422338" cy="791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1F167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Mejor comunicación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Todos </a:t>
              </a:r>
              <a:r>
                <a:rPr lang="en-US" sz="2499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entiend</a:t>
              </a:r>
              <a:r>
                <a:rPr lang="en-US" sz="2499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en en qué están trabajando los demás.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495889" y="6860176"/>
            <a:ext cx="5523251" cy="2788917"/>
            <a:chOff x="0" y="0"/>
            <a:chExt cx="1454683" cy="73453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54683" cy="734530"/>
            </a:xfrm>
            <a:custGeom>
              <a:avLst/>
              <a:gdLst/>
              <a:ahLst/>
              <a:cxnLst/>
              <a:rect r="r" b="b" t="t" l="l"/>
              <a:pathLst>
                <a:path h="734530" w="1454683">
                  <a:moveTo>
                    <a:pt x="42051" y="0"/>
                  </a:moveTo>
                  <a:lnTo>
                    <a:pt x="1412632" y="0"/>
                  </a:lnTo>
                  <a:cubicBezTo>
                    <a:pt x="1423785" y="0"/>
                    <a:pt x="1434481" y="4430"/>
                    <a:pt x="1442367" y="12316"/>
                  </a:cubicBezTo>
                  <a:cubicBezTo>
                    <a:pt x="1450253" y="20202"/>
                    <a:pt x="1454683" y="30898"/>
                    <a:pt x="1454683" y="42051"/>
                  </a:cubicBezTo>
                  <a:lnTo>
                    <a:pt x="1454683" y="692479"/>
                  </a:lnTo>
                  <a:cubicBezTo>
                    <a:pt x="1454683" y="715703"/>
                    <a:pt x="1435856" y="734530"/>
                    <a:pt x="1412632" y="734530"/>
                  </a:cubicBezTo>
                  <a:lnTo>
                    <a:pt x="42051" y="734530"/>
                  </a:lnTo>
                  <a:cubicBezTo>
                    <a:pt x="30898" y="734530"/>
                    <a:pt x="20202" y="730099"/>
                    <a:pt x="12316" y="722213"/>
                  </a:cubicBezTo>
                  <a:cubicBezTo>
                    <a:pt x="4430" y="714327"/>
                    <a:pt x="0" y="703631"/>
                    <a:pt x="0" y="692479"/>
                  </a:cubicBezTo>
                  <a:lnTo>
                    <a:pt x="0" y="42051"/>
                  </a:lnTo>
                  <a:cubicBezTo>
                    <a:pt x="0" y="30898"/>
                    <a:pt x="4430" y="20202"/>
                    <a:pt x="12316" y="12316"/>
                  </a:cubicBezTo>
                  <a:cubicBezTo>
                    <a:pt x="20202" y="4430"/>
                    <a:pt x="30898" y="0"/>
                    <a:pt x="42051" y="0"/>
                  </a:cubicBezTo>
                  <a:close/>
                </a:path>
              </a:pathLst>
            </a:custGeom>
            <a:solidFill>
              <a:srgbClr val="C3D5EC"/>
            </a:solidFill>
            <a:ln w="104775" cap="rnd">
              <a:solidFill>
                <a:srgbClr val="4E639E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454683" cy="791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1F167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Entregas continuas</a:t>
              </a:r>
            </a:p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Fomenta un flujo constante</a:t>
              </a:r>
            </a:p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de valor</a:t>
              </a:r>
            </a:p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hacia el cliente.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274740" y="6860176"/>
            <a:ext cx="5505499" cy="2788917"/>
            <a:chOff x="0" y="0"/>
            <a:chExt cx="1450008" cy="73453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50008" cy="734530"/>
            </a:xfrm>
            <a:custGeom>
              <a:avLst/>
              <a:gdLst/>
              <a:ahLst/>
              <a:cxnLst/>
              <a:rect r="r" b="b" t="t" l="l"/>
              <a:pathLst>
                <a:path h="734530" w="1450008">
                  <a:moveTo>
                    <a:pt x="42186" y="0"/>
                  </a:moveTo>
                  <a:lnTo>
                    <a:pt x="1407822" y="0"/>
                  </a:lnTo>
                  <a:cubicBezTo>
                    <a:pt x="1419010" y="0"/>
                    <a:pt x="1429740" y="4445"/>
                    <a:pt x="1437652" y="12356"/>
                  </a:cubicBezTo>
                  <a:cubicBezTo>
                    <a:pt x="1445563" y="20268"/>
                    <a:pt x="1450008" y="30998"/>
                    <a:pt x="1450008" y="42186"/>
                  </a:cubicBezTo>
                  <a:lnTo>
                    <a:pt x="1450008" y="692343"/>
                  </a:lnTo>
                  <a:cubicBezTo>
                    <a:pt x="1450008" y="703532"/>
                    <a:pt x="1445563" y="714262"/>
                    <a:pt x="1437652" y="722174"/>
                  </a:cubicBezTo>
                  <a:cubicBezTo>
                    <a:pt x="1429740" y="730085"/>
                    <a:pt x="1419010" y="734530"/>
                    <a:pt x="1407822" y="734530"/>
                  </a:cubicBezTo>
                  <a:lnTo>
                    <a:pt x="42186" y="734530"/>
                  </a:lnTo>
                  <a:cubicBezTo>
                    <a:pt x="30998" y="734530"/>
                    <a:pt x="20268" y="730085"/>
                    <a:pt x="12356" y="722174"/>
                  </a:cubicBezTo>
                  <a:cubicBezTo>
                    <a:pt x="4445" y="714262"/>
                    <a:pt x="0" y="703532"/>
                    <a:pt x="0" y="692343"/>
                  </a:cubicBezTo>
                  <a:lnTo>
                    <a:pt x="0" y="42186"/>
                  </a:lnTo>
                  <a:cubicBezTo>
                    <a:pt x="0" y="30998"/>
                    <a:pt x="4445" y="20268"/>
                    <a:pt x="12356" y="12356"/>
                  </a:cubicBezTo>
                  <a:cubicBezTo>
                    <a:pt x="20268" y="4445"/>
                    <a:pt x="30998" y="0"/>
                    <a:pt x="42186" y="0"/>
                  </a:cubicBezTo>
                  <a:close/>
                </a:path>
              </a:pathLst>
            </a:custGeom>
            <a:solidFill>
              <a:srgbClr val="C3D5EC"/>
            </a:solidFill>
            <a:ln w="104775" cap="rnd">
              <a:solidFill>
                <a:srgbClr val="4E639E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1450008" cy="791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1F167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Mayor productividad</a:t>
              </a:r>
            </a:p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Al limitar el trabajo en proceso, se finaliza más y se interrumpe menos.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25939" y="3083004"/>
            <a:ext cx="13627202" cy="5827574"/>
            <a:chOff x="0" y="0"/>
            <a:chExt cx="18169603" cy="777009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36402"/>
              <a:ext cx="18169603" cy="7433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4899"/>
                </a:lnSpc>
                <a:spcBef>
                  <a:spcPct val="0"/>
                </a:spcBef>
              </a:pPr>
              <a:r>
                <a:rPr lang="en-US" b="true" sz="3499">
                  <a:solidFill>
                    <a:srgbClr val="1F167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           Retos en l</a:t>
              </a:r>
              <a:r>
                <a:rPr lang="en-US" b="true" sz="3499" strike="noStrike" u="none">
                  <a:solidFill>
                    <a:srgbClr val="1F167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 Implementación</a:t>
              </a:r>
            </a:p>
            <a:p>
              <a:pPr algn="just" marL="0" indent="0" lvl="0">
                <a:lnSpc>
                  <a:spcPts val="3919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 strike="noStrike" u="none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Aunque Kanban es simple de entender, mantenerlo requiere compromiso. Entre sus principales limitaciones se encuentran:</a:t>
              </a:r>
            </a:p>
            <a:p>
              <a:pPr algn="just" marL="0" indent="0" lvl="0">
                <a:lnSpc>
                  <a:spcPts val="4480"/>
                </a:lnSpc>
                <a:spcBef>
                  <a:spcPct val="0"/>
                </a:spcBef>
              </a:pPr>
            </a:p>
            <a:p>
              <a:pPr algn="just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 strike="noStrike" u="none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· Riesgo de desorganización</a:t>
              </a:r>
            </a:p>
            <a:p>
              <a:pPr algn="just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 strike="noStrike" u="none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· Roles difusos</a:t>
              </a:r>
            </a:p>
            <a:p>
              <a:pPr algn="just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 strike="noStrike" u="none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. Escalabilidad</a:t>
              </a:r>
            </a:p>
            <a:p>
              <a:pPr algn="just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 strike="noStrike" u="none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· Acumulación (WIP)</a:t>
              </a:r>
            </a:p>
            <a:p>
              <a:pPr algn="just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 strike="noStrike" u="none">
                  <a:solidFill>
                    <a:srgbClr val="1F167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· Monitoreo manual: </a:t>
              </a:r>
            </a:p>
          </p:txBody>
        </p:sp>
        <p:sp>
          <p:nvSpPr>
            <p:cNvPr name="Freeform 4" id="4"/>
            <p:cNvSpPr/>
            <p:nvPr/>
          </p:nvSpPr>
          <p:spPr>
            <a:xfrm flipH="false" flipV="false" rot="0">
              <a:off x="429546" y="0"/>
              <a:ext cx="1274231" cy="1487955"/>
            </a:xfrm>
            <a:custGeom>
              <a:avLst/>
              <a:gdLst/>
              <a:ahLst/>
              <a:cxnLst/>
              <a:rect r="r" b="b" t="t" l="l"/>
              <a:pathLst>
                <a:path h="1487955" w="1274231">
                  <a:moveTo>
                    <a:pt x="0" y="0"/>
                  </a:moveTo>
                  <a:lnTo>
                    <a:pt x="1274230" y="0"/>
                  </a:lnTo>
                  <a:lnTo>
                    <a:pt x="1274230" y="1487955"/>
                  </a:lnTo>
                  <a:lnTo>
                    <a:pt x="0" y="1487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055756" y="623011"/>
            <a:ext cx="14499112" cy="2036762"/>
            <a:chOff x="0" y="0"/>
            <a:chExt cx="19332149" cy="2715683"/>
          </a:xfrm>
        </p:grpSpPr>
        <p:sp>
          <p:nvSpPr>
            <p:cNvPr name="AutoShape 6" id="6"/>
            <p:cNvSpPr/>
            <p:nvPr/>
          </p:nvSpPr>
          <p:spPr>
            <a:xfrm flipV="true">
              <a:off x="1357842" y="2185493"/>
              <a:ext cx="17974226" cy="38504"/>
            </a:xfrm>
            <a:prstGeom prst="line">
              <a:avLst/>
            </a:prstGeom>
            <a:ln cap="flat" w="76200">
              <a:solidFill>
                <a:srgbClr val="4E639E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7" id="7"/>
            <p:cNvGrpSpPr/>
            <p:nvPr/>
          </p:nvGrpSpPr>
          <p:grpSpPr>
            <a:xfrm rot="0">
              <a:off x="0" y="0"/>
              <a:ext cx="2715683" cy="2715683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solidFill>
                  <a:srgbClr val="4E639E"/>
                </a:solidFill>
                <a:prstDash val="dash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50744" y="25400"/>
              <a:ext cx="2603039" cy="2603039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D5EC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-57150"/>
                <a:ext cx="6604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9799"/>
                  </a:lnSpc>
                </a:pPr>
              </a:p>
            </p:txBody>
          </p:sp>
        </p:grpSp>
        <p:sp>
          <p:nvSpPr>
            <p:cNvPr name="AutoShape 13" id="13"/>
            <p:cNvSpPr/>
            <p:nvPr/>
          </p:nvSpPr>
          <p:spPr>
            <a:xfrm flipV="true">
              <a:off x="1508585" y="145897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 flipV="true">
              <a:off x="1508585" y="2198596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271240" y="1383242"/>
              <a:ext cx="360699" cy="0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618545" y="564904"/>
              <a:ext cx="303512" cy="194896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 flipV="true">
              <a:off x="648415" y="1955791"/>
              <a:ext cx="274526" cy="233965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4091940" y="1450384"/>
            <a:ext cx="1171673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</a:pPr>
            <a:r>
              <a:rPr lang="en-US" sz="5000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LIMITACIONES DE KANBAN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0197" y="3317266"/>
            <a:ext cx="17784885" cy="6658211"/>
            <a:chOff x="0" y="0"/>
            <a:chExt cx="4684085" cy="17536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4085" cy="1753603"/>
            </a:xfrm>
            <a:custGeom>
              <a:avLst/>
              <a:gdLst/>
              <a:ahLst/>
              <a:cxnLst/>
              <a:rect r="r" b="b" t="t" l="l"/>
              <a:pathLst>
                <a:path h="1753603" w="4684085">
                  <a:moveTo>
                    <a:pt x="22201" y="0"/>
                  </a:moveTo>
                  <a:lnTo>
                    <a:pt x="4661884" y="0"/>
                  </a:lnTo>
                  <a:cubicBezTo>
                    <a:pt x="4667772" y="0"/>
                    <a:pt x="4673419" y="2339"/>
                    <a:pt x="4677583" y="6502"/>
                  </a:cubicBezTo>
                  <a:cubicBezTo>
                    <a:pt x="4681746" y="10666"/>
                    <a:pt x="4684085" y="16313"/>
                    <a:pt x="4684085" y="22201"/>
                  </a:cubicBezTo>
                  <a:lnTo>
                    <a:pt x="4684085" y="1731402"/>
                  </a:lnTo>
                  <a:cubicBezTo>
                    <a:pt x="4684085" y="1737290"/>
                    <a:pt x="4681746" y="1742937"/>
                    <a:pt x="4677583" y="1747100"/>
                  </a:cubicBezTo>
                  <a:cubicBezTo>
                    <a:pt x="4673419" y="1751264"/>
                    <a:pt x="4667772" y="1753603"/>
                    <a:pt x="4661884" y="1753603"/>
                  </a:cubicBezTo>
                  <a:lnTo>
                    <a:pt x="22201" y="1753603"/>
                  </a:lnTo>
                  <a:cubicBezTo>
                    <a:pt x="16313" y="1753603"/>
                    <a:pt x="10666" y="1751264"/>
                    <a:pt x="6502" y="1747100"/>
                  </a:cubicBezTo>
                  <a:cubicBezTo>
                    <a:pt x="2339" y="1742937"/>
                    <a:pt x="0" y="1737290"/>
                    <a:pt x="0" y="1731402"/>
                  </a:cubicBezTo>
                  <a:lnTo>
                    <a:pt x="0" y="22201"/>
                  </a:lnTo>
                  <a:cubicBezTo>
                    <a:pt x="0" y="16313"/>
                    <a:pt x="2339" y="10666"/>
                    <a:pt x="6502" y="6502"/>
                  </a:cubicBezTo>
                  <a:cubicBezTo>
                    <a:pt x="10666" y="2339"/>
                    <a:pt x="16313" y="0"/>
                    <a:pt x="22201" y="0"/>
                  </a:cubicBezTo>
                  <a:close/>
                </a:path>
              </a:pathLst>
            </a:custGeom>
            <a:solidFill>
              <a:srgbClr val="FFA85A"/>
            </a:solidFill>
            <a:ln w="152400" cap="rnd">
              <a:solidFill>
                <a:srgbClr val="4E639E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684085" cy="1801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808506" y="653158"/>
            <a:ext cx="14499112" cy="2036762"/>
            <a:chOff x="0" y="0"/>
            <a:chExt cx="19332149" cy="2715683"/>
          </a:xfrm>
        </p:grpSpPr>
        <p:sp>
          <p:nvSpPr>
            <p:cNvPr name="AutoShape 6" id="6"/>
            <p:cNvSpPr/>
            <p:nvPr/>
          </p:nvSpPr>
          <p:spPr>
            <a:xfrm flipV="true">
              <a:off x="1357842" y="2185493"/>
              <a:ext cx="17974226" cy="38504"/>
            </a:xfrm>
            <a:prstGeom prst="line">
              <a:avLst/>
            </a:prstGeom>
            <a:ln cap="flat" w="76200">
              <a:solidFill>
                <a:srgbClr val="4E639E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7" id="7"/>
            <p:cNvGrpSpPr/>
            <p:nvPr/>
          </p:nvGrpSpPr>
          <p:grpSpPr>
            <a:xfrm rot="0">
              <a:off x="0" y="0"/>
              <a:ext cx="2715683" cy="2715683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solidFill>
                  <a:srgbClr val="4E639E"/>
                </a:solidFill>
                <a:prstDash val="dash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50744" y="25400"/>
              <a:ext cx="2603039" cy="2603039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D5EC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-57150"/>
                <a:ext cx="6604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9799"/>
                  </a:lnSpc>
                </a:pPr>
              </a:p>
            </p:txBody>
          </p:sp>
        </p:grpSp>
        <p:sp>
          <p:nvSpPr>
            <p:cNvPr name="AutoShape 13" id="13"/>
            <p:cNvSpPr/>
            <p:nvPr/>
          </p:nvSpPr>
          <p:spPr>
            <a:xfrm flipV="true">
              <a:off x="1508585" y="145897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 flipV="true">
              <a:off x="1508585" y="2198596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271240" y="1383242"/>
              <a:ext cx="360699" cy="0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618545" y="564904"/>
              <a:ext cx="303512" cy="194896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 flipV="true">
              <a:off x="648415" y="1955791"/>
              <a:ext cx="274526" cy="233965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3787711" y="1281015"/>
            <a:ext cx="1178340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</a:pPr>
            <a:r>
              <a:rPr lang="en-US" sz="5000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CASOS DE USO Y APLICACIÓN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8700" y="3422787"/>
            <a:ext cx="4882879" cy="6447168"/>
            <a:chOff x="0" y="0"/>
            <a:chExt cx="1286026" cy="16980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86026" cy="1698020"/>
            </a:xfrm>
            <a:custGeom>
              <a:avLst/>
              <a:gdLst/>
              <a:ahLst/>
              <a:cxnLst/>
              <a:rect r="r" b="b" t="t" l="l"/>
              <a:pathLst>
                <a:path h="1698020" w="1286026">
                  <a:moveTo>
                    <a:pt x="0" y="0"/>
                  </a:moveTo>
                  <a:lnTo>
                    <a:pt x="1286026" y="0"/>
                  </a:lnTo>
                  <a:lnTo>
                    <a:pt x="1286026" y="1698020"/>
                  </a:lnTo>
                  <a:lnTo>
                    <a:pt x="0" y="1698020"/>
                  </a:lnTo>
                  <a:close/>
                </a:path>
              </a:pathLst>
            </a:custGeom>
            <a:solidFill>
              <a:srgbClr val="E9EAEB"/>
            </a:solidFill>
            <a:ln w="57150" cap="sq">
              <a:solidFill>
                <a:srgbClr val="4E639E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286026" cy="1745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60118" y="3363405"/>
            <a:ext cx="4825321" cy="6506550"/>
            <a:chOff x="0" y="0"/>
            <a:chExt cx="1270867" cy="171365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70867" cy="1713659"/>
            </a:xfrm>
            <a:custGeom>
              <a:avLst/>
              <a:gdLst/>
              <a:ahLst/>
              <a:cxnLst/>
              <a:rect r="r" b="b" t="t" l="l"/>
              <a:pathLst>
                <a:path h="1713659" w="1270867">
                  <a:moveTo>
                    <a:pt x="0" y="0"/>
                  </a:moveTo>
                  <a:lnTo>
                    <a:pt x="1270867" y="0"/>
                  </a:lnTo>
                  <a:lnTo>
                    <a:pt x="1270867" y="1713659"/>
                  </a:lnTo>
                  <a:lnTo>
                    <a:pt x="0" y="1713659"/>
                  </a:lnTo>
                  <a:close/>
                </a:path>
              </a:pathLst>
            </a:custGeom>
            <a:solidFill>
              <a:srgbClr val="E9EAEB"/>
            </a:solidFill>
            <a:ln w="57150" cap="sq">
              <a:solidFill>
                <a:srgbClr val="4E639E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270867" cy="1761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28700" y="3560917"/>
            <a:ext cx="4489970" cy="139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540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Proyect</a:t>
            </a:r>
            <a:r>
              <a:rPr lang="en-US" b="true" sz="4500" spc="540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os Ideales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48829" y="5089942"/>
            <a:ext cx="4568314" cy="4168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Kanban brilla donde los</a:t>
            </a:r>
          </a:p>
          <a:p>
            <a:pPr algn="l">
              <a:lnSpc>
                <a:spcPts val="3359"/>
              </a:lnSpc>
            </a:pPr>
            <a:r>
              <a:rPr lang="en-US" sz="24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requerimientos cambian</a:t>
            </a:r>
          </a:p>
          <a:p>
            <a:pPr algn="l">
              <a:lnSpc>
                <a:spcPts val="3359"/>
              </a:lnSpc>
            </a:pPr>
            <a:r>
              <a:rPr lang="en-US" sz="24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dinámicamente o hay un flujo</a:t>
            </a:r>
          </a:p>
          <a:p>
            <a:pPr algn="l">
              <a:lnSpc>
                <a:spcPts val="3359"/>
              </a:lnSpc>
            </a:pPr>
            <a:r>
              <a:rPr lang="en-US" sz="24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constante: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Desarrollo web y apps.</a:t>
            </a:r>
          </a:p>
          <a:p>
            <a:pPr algn="l">
              <a:lnSpc>
                <a:spcPts val="3359"/>
              </a:lnSpc>
            </a:pPr>
            <a:r>
              <a:rPr lang="en-US" sz="24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Equipos de Soporte técnico.</a:t>
            </a:r>
          </a:p>
          <a:p>
            <a:pPr algn="l">
              <a:lnSpc>
                <a:spcPts val="3359"/>
              </a:lnSpc>
            </a:pPr>
            <a:r>
              <a:rPr lang="en-US" sz="24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Mant</a:t>
            </a:r>
            <a:r>
              <a:rPr lang="en-US" sz="24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enimiento de software.</a:t>
            </a:r>
          </a:p>
          <a:p>
            <a:pPr algn="l">
              <a:lnSpc>
                <a:spcPts val="3359"/>
              </a:lnSpc>
            </a:pPr>
            <a:r>
              <a:rPr lang="en-US" sz="24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Sistemas empresariales.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05398" y="3516293"/>
            <a:ext cx="4462977" cy="139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540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Empr</a:t>
            </a:r>
            <a:r>
              <a:rPr lang="en-US" b="true" sz="4500" spc="540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esas Referentes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10560" y="4070443"/>
            <a:ext cx="4761748" cy="500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Gigantes tecnológicos lo han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adoptado o creado para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sostener su ritmo operativo ágil: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Toyota (Fabricación)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. Spotify (Desarrollo y Ops)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Microsoft (Mantenimiento y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Xbox)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Zar y corporativos de retail.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433979" y="3393096"/>
            <a:ext cx="4825321" cy="6506550"/>
            <a:chOff x="0" y="0"/>
            <a:chExt cx="1270867" cy="171365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70867" cy="1713659"/>
            </a:xfrm>
            <a:custGeom>
              <a:avLst/>
              <a:gdLst/>
              <a:ahLst/>
              <a:cxnLst/>
              <a:rect r="r" b="b" t="t" l="l"/>
              <a:pathLst>
                <a:path h="1713659" w="1270867">
                  <a:moveTo>
                    <a:pt x="0" y="0"/>
                  </a:moveTo>
                  <a:lnTo>
                    <a:pt x="1270867" y="0"/>
                  </a:lnTo>
                  <a:lnTo>
                    <a:pt x="1270867" y="1713659"/>
                  </a:lnTo>
                  <a:lnTo>
                    <a:pt x="0" y="1713659"/>
                  </a:lnTo>
                  <a:close/>
                </a:path>
              </a:pathLst>
            </a:custGeom>
            <a:solidFill>
              <a:srgbClr val="E9EAEB"/>
            </a:solidFill>
            <a:ln w="57150" cap="sq">
              <a:solidFill>
                <a:srgbClr val="4E639E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270867" cy="1761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615283" y="4472144"/>
            <a:ext cx="4462845" cy="5006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4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rquitectur</a:t>
            </a:r>
            <a:r>
              <a:rPr lang="en-US" sz="24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as de s</a:t>
            </a:r>
            <a:r>
              <a:rPr lang="en-US" sz="24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oftware  que requieren actualizaciones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continuas sin detener el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servicio: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E-commerce 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Plataformas educativas.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Sistemas de bases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24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ospitalarias.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Aplicaciones bancarias.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615151" y="3516293"/>
            <a:ext cx="4462977" cy="139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00"/>
              </a:lnSpc>
              <a:spcBef>
                <a:spcPct val="0"/>
              </a:spcBef>
            </a:pPr>
            <a:r>
              <a:rPr lang="en-US" b="true" sz="4500" spc="540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Sistemas Benef</a:t>
            </a:r>
            <a:r>
              <a:rPr lang="en-US" b="true" sz="4500" spc="540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iciados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94444" y="645577"/>
            <a:ext cx="14499112" cy="2036762"/>
            <a:chOff x="0" y="0"/>
            <a:chExt cx="19332149" cy="2715683"/>
          </a:xfrm>
        </p:grpSpPr>
        <p:sp>
          <p:nvSpPr>
            <p:cNvPr name="AutoShape 3" id="3"/>
            <p:cNvSpPr/>
            <p:nvPr/>
          </p:nvSpPr>
          <p:spPr>
            <a:xfrm flipV="true">
              <a:off x="1357842" y="2185493"/>
              <a:ext cx="17974226" cy="38504"/>
            </a:xfrm>
            <a:prstGeom prst="line">
              <a:avLst/>
            </a:prstGeom>
            <a:ln cap="flat" w="76200">
              <a:solidFill>
                <a:srgbClr val="4E639E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715683" cy="2715683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solidFill>
                  <a:srgbClr val="4E639E"/>
                </a:solidFill>
                <a:prstDash val="dash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50744" y="25400"/>
              <a:ext cx="2603039" cy="2603039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D5EC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-57150"/>
                <a:ext cx="6604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9799"/>
                  </a:lnSpc>
                </a:pPr>
              </a:p>
            </p:txBody>
          </p:sp>
        </p:grpSp>
        <p:sp>
          <p:nvSpPr>
            <p:cNvPr name="AutoShape 10" id="10"/>
            <p:cNvSpPr/>
            <p:nvPr/>
          </p:nvSpPr>
          <p:spPr>
            <a:xfrm flipV="true">
              <a:off x="1508585" y="145897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 flipV="true">
              <a:off x="1508585" y="2198596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271240" y="1383242"/>
              <a:ext cx="360699" cy="0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618545" y="564904"/>
              <a:ext cx="303512" cy="194896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 flipV="true">
              <a:off x="648415" y="1955791"/>
              <a:ext cx="274526" cy="233965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3875192" y="1425039"/>
            <a:ext cx="12660271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</a:pPr>
            <a:r>
              <a:rPr lang="en-US" sz="5000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GES</a:t>
            </a:r>
            <a:r>
              <a:rPr lang="en-US" b="true" sz="5000" strike="noStrike" u="none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TIÓN DE PROYECTOS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924022" y="4543237"/>
            <a:ext cx="4715063" cy="471506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3D5EC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17169" y="5890158"/>
            <a:ext cx="7111965" cy="2869580"/>
            <a:chOff x="0" y="0"/>
            <a:chExt cx="1760731" cy="71043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60731" cy="710431"/>
            </a:xfrm>
            <a:custGeom>
              <a:avLst/>
              <a:gdLst/>
              <a:ahLst/>
              <a:cxnLst/>
              <a:rect r="r" b="b" t="t" l="l"/>
              <a:pathLst>
                <a:path h="710431" w="1760731">
                  <a:moveTo>
                    <a:pt x="55517" y="0"/>
                  </a:moveTo>
                  <a:lnTo>
                    <a:pt x="1705214" y="0"/>
                  </a:lnTo>
                  <a:cubicBezTo>
                    <a:pt x="1719938" y="0"/>
                    <a:pt x="1734059" y="5849"/>
                    <a:pt x="1744471" y="16261"/>
                  </a:cubicBezTo>
                  <a:cubicBezTo>
                    <a:pt x="1754882" y="26672"/>
                    <a:pt x="1760731" y="40793"/>
                    <a:pt x="1760731" y="55517"/>
                  </a:cubicBezTo>
                  <a:lnTo>
                    <a:pt x="1760731" y="654913"/>
                  </a:lnTo>
                  <a:cubicBezTo>
                    <a:pt x="1760731" y="685575"/>
                    <a:pt x="1735875" y="710431"/>
                    <a:pt x="1705214" y="710431"/>
                  </a:cubicBezTo>
                  <a:lnTo>
                    <a:pt x="55517" y="710431"/>
                  </a:lnTo>
                  <a:cubicBezTo>
                    <a:pt x="40793" y="710431"/>
                    <a:pt x="26672" y="704582"/>
                    <a:pt x="16261" y="694170"/>
                  </a:cubicBezTo>
                  <a:cubicBezTo>
                    <a:pt x="5849" y="683759"/>
                    <a:pt x="0" y="669638"/>
                    <a:pt x="0" y="654913"/>
                  </a:cubicBezTo>
                  <a:lnTo>
                    <a:pt x="0" y="55517"/>
                  </a:lnTo>
                  <a:cubicBezTo>
                    <a:pt x="0" y="40793"/>
                    <a:pt x="5849" y="26672"/>
                    <a:pt x="16261" y="16261"/>
                  </a:cubicBezTo>
                  <a:cubicBezTo>
                    <a:pt x="26672" y="5849"/>
                    <a:pt x="40793" y="0"/>
                    <a:pt x="55517" y="0"/>
                  </a:cubicBezTo>
                  <a:close/>
                </a:path>
              </a:pathLst>
            </a:custGeom>
            <a:solidFill>
              <a:srgbClr val="F8FCFF"/>
            </a:solidFill>
            <a:ln w="38100" cap="rnd">
              <a:solidFill>
                <a:srgbClr val="4E639E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760731" cy="7580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200377" y="2792280"/>
            <a:ext cx="6162351" cy="2899480"/>
            <a:chOff x="0" y="0"/>
            <a:chExt cx="1519768" cy="71507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19768" cy="715074"/>
            </a:xfrm>
            <a:custGeom>
              <a:avLst/>
              <a:gdLst/>
              <a:ahLst/>
              <a:cxnLst/>
              <a:rect r="r" b="b" t="t" l="l"/>
              <a:pathLst>
                <a:path h="715074" w="1519768">
                  <a:moveTo>
                    <a:pt x="64073" y="0"/>
                  </a:moveTo>
                  <a:lnTo>
                    <a:pt x="1455696" y="0"/>
                  </a:lnTo>
                  <a:cubicBezTo>
                    <a:pt x="1491082" y="0"/>
                    <a:pt x="1519768" y="28686"/>
                    <a:pt x="1519768" y="64073"/>
                  </a:cubicBezTo>
                  <a:lnTo>
                    <a:pt x="1519768" y="651002"/>
                  </a:lnTo>
                  <a:cubicBezTo>
                    <a:pt x="1519768" y="667995"/>
                    <a:pt x="1513018" y="684292"/>
                    <a:pt x="1501002" y="696308"/>
                  </a:cubicBezTo>
                  <a:cubicBezTo>
                    <a:pt x="1488986" y="708324"/>
                    <a:pt x="1472689" y="715074"/>
                    <a:pt x="1455696" y="715074"/>
                  </a:cubicBezTo>
                  <a:lnTo>
                    <a:pt x="64073" y="715074"/>
                  </a:lnTo>
                  <a:cubicBezTo>
                    <a:pt x="28686" y="715074"/>
                    <a:pt x="0" y="686388"/>
                    <a:pt x="0" y="651002"/>
                  </a:cubicBezTo>
                  <a:lnTo>
                    <a:pt x="0" y="64073"/>
                  </a:lnTo>
                  <a:cubicBezTo>
                    <a:pt x="0" y="47079"/>
                    <a:pt x="6750" y="30782"/>
                    <a:pt x="18766" y="18766"/>
                  </a:cubicBezTo>
                  <a:cubicBezTo>
                    <a:pt x="30782" y="6750"/>
                    <a:pt x="47079" y="0"/>
                    <a:pt x="64073" y="0"/>
                  </a:cubicBezTo>
                  <a:close/>
                </a:path>
              </a:pathLst>
            </a:custGeom>
            <a:solidFill>
              <a:srgbClr val="F8FCFF"/>
            </a:solidFill>
            <a:ln w="38100" cap="rnd">
              <a:solidFill>
                <a:srgbClr val="4E639E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519768" cy="762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181491" y="5890158"/>
            <a:ext cx="6698658" cy="2869580"/>
            <a:chOff x="0" y="0"/>
            <a:chExt cx="1764256" cy="7557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764256" cy="755774"/>
            </a:xfrm>
            <a:custGeom>
              <a:avLst/>
              <a:gdLst/>
              <a:ahLst/>
              <a:cxnLst/>
              <a:rect r="r" b="b" t="t" l="l"/>
              <a:pathLst>
                <a:path h="755774" w="1764256">
                  <a:moveTo>
                    <a:pt x="58943" y="0"/>
                  </a:moveTo>
                  <a:lnTo>
                    <a:pt x="1705313" y="0"/>
                  </a:lnTo>
                  <a:cubicBezTo>
                    <a:pt x="1720946" y="0"/>
                    <a:pt x="1735938" y="6210"/>
                    <a:pt x="1746992" y="17264"/>
                  </a:cubicBezTo>
                  <a:cubicBezTo>
                    <a:pt x="1758046" y="28318"/>
                    <a:pt x="1764256" y="43310"/>
                    <a:pt x="1764256" y="58943"/>
                  </a:cubicBezTo>
                  <a:lnTo>
                    <a:pt x="1764256" y="696831"/>
                  </a:lnTo>
                  <a:cubicBezTo>
                    <a:pt x="1764256" y="729385"/>
                    <a:pt x="1737866" y="755774"/>
                    <a:pt x="1705313" y="755774"/>
                  </a:cubicBezTo>
                  <a:lnTo>
                    <a:pt x="58943" y="755774"/>
                  </a:lnTo>
                  <a:cubicBezTo>
                    <a:pt x="26390" y="755774"/>
                    <a:pt x="0" y="729385"/>
                    <a:pt x="0" y="696831"/>
                  </a:cubicBezTo>
                  <a:lnTo>
                    <a:pt x="0" y="58943"/>
                  </a:lnTo>
                  <a:cubicBezTo>
                    <a:pt x="0" y="26390"/>
                    <a:pt x="26390" y="0"/>
                    <a:pt x="58943" y="0"/>
                  </a:cubicBezTo>
                  <a:close/>
                </a:path>
              </a:pathLst>
            </a:custGeom>
            <a:solidFill>
              <a:srgbClr val="F8FCFF"/>
            </a:solidFill>
            <a:ln w="38100" cap="rnd">
              <a:solidFill>
                <a:srgbClr val="4E639E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764256" cy="8033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362844" y="2924306"/>
            <a:ext cx="5946256" cy="2727651"/>
            <a:chOff x="0" y="0"/>
            <a:chExt cx="1466475" cy="67269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66475" cy="672697"/>
            </a:xfrm>
            <a:custGeom>
              <a:avLst/>
              <a:gdLst/>
              <a:ahLst/>
              <a:cxnLst/>
              <a:rect r="r" b="b" t="t" l="l"/>
              <a:pathLst>
                <a:path h="672697" w="1466475">
                  <a:moveTo>
                    <a:pt x="66401" y="0"/>
                  </a:moveTo>
                  <a:lnTo>
                    <a:pt x="1400074" y="0"/>
                  </a:lnTo>
                  <a:cubicBezTo>
                    <a:pt x="1417684" y="0"/>
                    <a:pt x="1434574" y="6996"/>
                    <a:pt x="1447026" y="19448"/>
                  </a:cubicBezTo>
                  <a:cubicBezTo>
                    <a:pt x="1459479" y="31901"/>
                    <a:pt x="1466475" y="48790"/>
                    <a:pt x="1466475" y="66401"/>
                  </a:cubicBezTo>
                  <a:lnTo>
                    <a:pt x="1466475" y="606296"/>
                  </a:lnTo>
                  <a:cubicBezTo>
                    <a:pt x="1466475" y="642969"/>
                    <a:pt x="1436746" y="672697"/>
                    <a:pt x="1400074" y="672697"/>
                  </a:cubicBezTo>
                  <a:lnTo>
                    <a:pt x="66401" y="672697"/>
                  </a:lnTo>
                  <a:cubicBezTo>
                    <a:pt x="29729" y="672697"/>
                    <a:pt x="0" y="642969"/>
                    <a:pt x="0" y="606296"/>
                  </a:cubicBezTo>
                  <a:lnTo>
                    <a:pt x="0" y="66401"/>
                  </a:lnTo>
                  <a:cubicBezTo>
                    <a:pt x="0" y="29729"/>
                    <a:pt x="29729" y="0"/>
                    <a:pt x="66401" y="0"/>
                  </a:cubicBezTo>
                  <a:close/>
                </a:path>
              </a:pathLst>
            </a:custGeom>
            <a:solidFill>
              <a:srgbClr val="61E1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466475" cy="720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217943" y="6020678"/>
            <a:ext cx="6463757" cy="2698661"/>
            <a:chOff x="0" y="0"/>
            <a:chExt cx="1702389" cy="71075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702389" cy="710758"/>
            </a:xfrm>
            <a:custGeom>
              <a:avLst/>
              <a:gdLst/>
              <a:ahLst/>
              <a:cxnLst/>
              <a:rect r="r" b="b" t="t" l="l"/>
              <a:pathLst>
                <a:path h="710758" w="1702389">
                  <a:moveTo>
                    <a:pt x="61085" y="0"/>
                  </a:moveTo>
                  <a:lnTo>
                    <a:pt x="1641304" y="0"/>
                  </a:lnTo>
                  <a:cubicBezTo>
                    <a:pt x="1657504" y="0"/>
                    <a:pt x="1673041" y="6436"/>
                    <a:pt x="1684497" y="17891"/>
                  </a:cubicBezTo>
                  <a:cubicBezTo>
                    <a:pt x="1695953" y="29347"/>
                    <a:pt x="1702389" y="44884"/>
                    <a:pt x="1702389" y="61085"/>
                  </a:cubicBezTo>
                  <a:lnTo>
                    <a:pt x="1702389" y="649674"/>
                  </a:lnTo>
                  <a:cubicBezTo>
                    <a:pt x="1702389" y="665874"/>
                    <a:pt x="1695953" y="681411"/>
                    <a:pt x="1684497" y="692867"/>
                  </a:cubicBezTo>
                  <a:cubicBezTo>
                    <a:pt x="1673041" y="704323"/>
                    <a:pt x="1657504" y="710758"/>
                    <a:pt x="1641304" y="710758"/>
                  </a:cubicBezTo>
                  <a:lnTo>
                    <a:pt x="61085" y="710758"/>
                  </a:lnTo>
                  <a:cubicBezTo>
                    <a:pt x="44884" y="710758"/>
                    <a:pt x="29347" y="704323"/>
                    <a:pt x="17891" y="692867"/>
                  </a:cubicBezTo>
                  <a:cubicBezTo>
                    <a:pt x="6436" y="681411"/>
                    <a:pt x="0" y="665874"/>
                    <a:pt x="0" y="649674"/>
                  </a:cubicBezTo>
                  <a:lnTo>
                    <a:pt x="0" y="61085"/>
                  </a:lnTo>
                  <a:cubicBezTo>
                    <a:pt x="0" y="44884"/>
                    <a:pt x="6436" y="29347"/>
                    <a:pt x="17891" y="17891"/>
                  </a:cubicBezTo>
                  <a:cubicBezTo>
                    <a:pt x="29347" y="6436"/>
                    <a:pt x="44884" y="0"/>
                    <a:pt x="61085" y="0"/>
                  </a:cubicBezTo>
                  <a:close/>
                </a:path>
              </a:pathLst>
            </a:custGeom>
            <a:solidFill>
              <a:srgbClr val="9ACEE2"/>
            </a:solidFill>
            <a:ln cap="rnd">
              <a:noFill/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702389" cy="758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902060" y="5521276"/>
            <a:ext cx="3063785" cy="306378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E639E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551099" y="6015192"/>
            <a:ext cx="6862569" cy="2698661"/>
            <a:chOff x="0" y="0"/>
            <a:chExt cx="1698988" cy="6681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698988" cy="668116"/>
            </a:xfrm>
            <a:custGeom>
              <a:avLst/>
              <a:gdLst/>
              <a:ahLst/>
              <a:cxnLst/>
              <a:rect r="r" b="b" t="t" l="l"/>
              <a:pathLst>
                <a:path h="668116" w="1698988">
                  <a:moveTo>
                    <a:pt x="57535" y="0"/>
                  </a:moveTo>
                  <a:lnTo>
                    <a:pt x="1641453" y="0"/>
                  </a:lnTo>
                  <a:cubicBezTo>
                    <a:pt x="1673228" y="0"/>
                    <a:pt x="1698988" y="25759"/>
                    <a:pt x="1698988" y="57535"/>
                  </a:cubicBezTo>
                  <a:lnTo>
                    <a:pt x="1698988" y="610581"/>
                  </a:lnTo>
                  <a:cubicBezTo>
                    <a:pt x="1698988" y="625840"/>
                    <a:pt x="1692926" y="640474"/>
                    <a:pt x="1682136" y="651264"/>
                  </a:cubicBezTo>
                  <a:cubicBezTo>
                    <a:pt x="1671346" y="662054"/>
                    <a:pt x="1656712" y="668116"/>
                    <a:pt x="1641453" y="668116"/>
                  </a:cubicBezTo>
                  <a:lnTo>
                    <a:pt x="57535" y="668116"/>
                  </a:lnTo>
                  <a:cubicBezTo>
                    <a:pt x="42276" y="668116"/>
                    <a:pt x="27642" y="662054"/>
                    <a:pt x="16852" y="651264"/>
                  </a:cubicBezTo>
                  <a:cubicBezTo>
                    <a:pt x="6062" y="640474"/>
                    <a:pt x="0" y="625840"/>
                    <a:pt x="0" y="610581"/>
                  </a:cubicBezTo>
                  <a:lnTo>
                    <a:pt x="0" y="57535"/>
                  </a:lnTo>
                  <a:cubicBezTo>
                    <a:pt x="0" y="42276"/>
                    <a:pt x="6062" y="27642"/>
                    <a:pt x="16852" y="16852"/>
                  </a:cubicBezTo>
                  <a:cubicBezTo>
                    <a:pt x="27642" y="6062"/>
                    <a:pt x="42276" y="0"/>
                    <a:pt x="57535" y="0"/>
                  </a:cubicBezTo>
                  <a:close/>
                </a:path>
              </a:pathLst>
            </a:custGeom>
            <a:solidFill>
              <a:srgbClr val="FFA85A"/>
            </a:solidFill>
            <a:ln cap="rnd">
              <a:noFill/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1698988" cy="7157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792469" y="5541716"/>
            <a:ext cx="3063785" cy="3063785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9EAEB"/>
            </a:solidFill>
            <a:ln w="76200" cap="sq">
              <a:solidFill>
                <a:srgbClr val="4E639E"/>
              </a:solidFill>
              <a:prstDash val="lgDash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-7655156">
            <a:off x="8181590" y="5944688"/>
            <a:ext cx="1323714" cy="915678"/>
            <a:chOff x="0" y="0"/>
            <a:chExt cx="812800" cy="56225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2800" cy="562253"/>
            </a:xfrm>
            <a:custGeom>
              <a:avLst/>
              <a:gdLst/>
              <a:ahLst/>
              <a:cxnLst/>
              <a:rect r="r" b="b" t="t" l="l"/>
              <a:pathLst>
                <a:path h="562253" w="812800">
                  <a:moveTo>
                    <a:pt x="812800" y="281127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59053"/>
                  </a:lnTo>
                  <a:lnTo>
                    <a:pt x="406400" y="359053"/>
                  </a:lnTo>
                  <a:lnTo>
                    <a:pt x="406400" y="562253"/>
                  </a:lnTo>
                  <a:lnTo>
                    <a:pt x="812800" y="281127"/>
                  </a:lnTo>
                  <a:close/>
                </a:path>
              </a:pathLst>
            </a:custGeom>
            <a:solidFill>
              <a:srgbClr val="61E1FF"/>
            </a:solidFill>
            <a:ln w="38100" cap="sq">
              <a:solidFill>
                <a:srgbClr val="4E639E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155575"/>
              <a:ext cx="711200" cy="203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843447" y="6467478"/>
            <a:ext cx="961831" cy="961831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1E1FF"/>
            </a:solidFill>
            <a:ln w="38100" cap="sq">
              <a:solidFill>
                <a:srgbClr val="4E639E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6433447" y="2980439"/>
            <a:ext cx="5805050" cy="2373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true" sz="3200" spc="384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EN PROCESO (DOING)</a:t>
            </a:r>
          </a:p>
          <a:p>
            <a:pPr algn="ctr">
              <a:lnSpc>
                <a:spcPts val="3840"/>
              </a:lnSpc>
            </a:pPr>
          </a:p>
          <a:p>
            <a:pPr algn="ctr">
              <a:lnSpc>
                <a:spcPts val="3840"/>
              </a:lnSpc>
            </a:pPr>
            <a:r>
              <a:rPr lang="en-US" b="true" sz="3200" spc="384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Program</a:t>
            </a:r>
            <a:r>
              <a:rPr lang="en-US" b="true" sz="3200" spc="384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ar mód</a:t>
            </a:r>
            <a:r>
              <a:rPr lang="en-US" b="true" sz="3200" spc="384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ulo de sistema de usuarios (Backend).</a:t>
            </a:r>
          </a:p>
          <a:p>
            <a:pPr algn="ctr">
              <a:lnSpc>
                <a:spcPts val="3240"/>
              </a:lnSpc>
            </a:pPr>
            <a:r>
              <a:rPr lang="en-US" b="true" sz="2700" spc="324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In</a:t>
            </a:r>
            <a:r>
              <a:rPr lang="en-US" b="true" sz="2700" spc="324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tegrar API de pasarela de pagos.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799892" y="6138146"/>
            <a:ext cx="5992578" cy="2373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true" sz="3200" spc="384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PENDIENTE (TO DO)</a:t>
            </a:r>
          </a:p>
          <a:p>
            <a:pPr algn="ctr">
              <a:lnSpc>
                <a:spcPts val="3840"/>
              </a:lnSpc>
            </a:pPr>
          </a:p>
          <a:p>
            <a:pPr algn="ctr">
              <a:lnSpc>
                <a:spcPts val="3840"/>
              </a:lnSpc>
            </a:pPr>
            <a:r>
              <a:rPr lang="en-US" b="true" sz="3200" spc="384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Dis</a:t>
            </a:r>
            <a:r>
              <a:rPr lang="en-US" b="true" sz="3200" spc="384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eñar interfaz de login.</a:t>
            </a:r>
          </a:p>
          <a:p>
            <a:pPr algn="ctr">
              <a:lnSpc>
                <a:spcPts val="3840"/>
              </a:lnSpc>
            </a:pPr>
            <a:r>
              <a:rPr lang="en-US" b="true" sz="3200" spc="384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Estructurar temario de</a:t>
            </a:r>
            <a:r>
              <a:rPr lang="en-US" b="true" sz="3200" spc="384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 cursos.</a:t>
            </a:r>
          </a:p>
          <a:p>
            <a:pPr algn="ctr">
              <a:lnSpc>
                <a:spcPts val="3239"/>
              </a:lnSpc>
            </a:pPr>
            <a:r>
              <a:rPr lang="en-US" b="true" sz="2699" spc="323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</a:t>
            </a:r>
            <a:r>
              <a:rPr lang="en-US" b="true" sz="2699" spc="323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iseño de la base de datos MySQL.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822587" y="6138146"/>
            <a:ext cx="6057562" cy="2373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true" sz="3200" spc="384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TERMINADO (DONE)</a:t>
            </a:r>
          </a:p>
          <a:p>
            <a:pPr algn="ctr">
              <a:lnSpc>
                <a:spcPts val="3840"/>
              </a:lnSpc>
            </a:pPr>
          </a:p>
          <a:p>
            <a:pPr algn="ctr">
              <a:lnSpc>
                <a:spcPts val="3240"/>
              </a:lnSpc>
            </a:pPr>
            <a:r>
              <a:rPr lang="en-US" b="true" sz="2700" spc="324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Di</a:t>
            </a:r>
            <a:r>
              <a:rPr lang="en-US" b="true" sz="2700" spc="324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seño principal (UI/UX) aprobado.</a:t>
            </a:r>
          </a:p>
          <a:p>
            <a:pPr algn="ctr">
              <a:lnSpc>
                <a:spcPts val="3840"/>
              </a:lnSpc>
            </a:pPr>
            <a:r>
              <a:rPr lang="en-US" b="true" sz="3200" spc="384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Mó</a:t>
            </a:r>
            <a:r>
              <a:rPr lang="en-US" b="true" sz="3200" spc="384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dulo de registro inicial de alumnos desplegado.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8900597" y="6543678"/>
            <a:ext cx="809431" cy="809431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3D5EC"/>
            </a:solidFill>
            <a:ln w="38100" cap="sq">
              <a:solidFill>
                <a:srgbClr val="4E639E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446632" y="3304856"/>
            <a:ext cx="5401320" cy="123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 spc="324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Vista de un equipo desarrollando una Plataforma Educativa. Así se observa el flujo: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591481" y="3214599"/>
            <a:ext cx="5077822" cy="164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b="true" sz="2700" spc="324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Res</a:t>
            </a:r>
            <a:r>
              <a:rPr lang="en-US" b="true" sz="2700" spc="324" strike="noStrike" u="none">
                <a:solidFill>
                  <a:srgbClr val="1F167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ultado visual: El equipo sabe exactamente qué falta, qué podría estar atrasado y qué ya se ha entregado como valor.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94444" y="654888"/>
            <a:ext cx="14499112" cy="2036762"/>
            <a:chOff x="0" y="0"/>
            <a:chExt cx="19332149" cy="2715683"/>
          </a:xfrm>
        </p:grpSpPr>
        <p:sp>
          <p:nvSpPr>
            <p:cNvPr name="AutoShape 3" id="3"/>
            <p:cNvSpPr/>
            <p:nvPr/>
          </p:nvSpPr>
          <p:spPr>
            <a:xfrm flipV="true">
              <a:off x="1357842" y="2185493"/>
              <a:ext cx="17974226" cy="38504"/>
            </a:xfrm>
            <a:prstGeom prst="line">
              <a:avLst/>
            </a:prstGeom>
            <a:ln cap="flat" w="76200">
              <a:solidFill>
                <a:srgbClr val="4E639E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4" id="4"/>
            <p:cNvGrpSpPr/>
            <p:nvPr/>
          </p:nvGrpSpPr>
          <p:grpSpPr>
            <a:xfrm rot="0">
              <a:off x="0" y="0"/>
              <a:ext cx="2715683" cy="2715683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57150" cap="sq">
                <a:solidFill>
                  <a:srgbClr val="4E639E"/>
                </a:solidFill>
                <a:prstDash val="dash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40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50744" y="25400"/>
              <a:ext cx="2603039" cy="2603039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D5EC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-57150"/>
                <a:ext cx="660400" cy="7937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9799"/>
                  </a:lnSpc>
                </a:pPr>
              </a:p>
            </p:txBody>
          </p:sp>
        </p:grpSp>
        <p:sp>
          <p:nvSpPr>
            <p:cNvPr name="AutoShape 10" id="10"/>
            <p:cNvSpPr/>
            <p:nvPr/>
          </p:nvSpPr>
          <p:spPr>
            <a:xfrm flipV="true">
              <a:off x="1508585" y="145897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1" id="11"/>
            <p:cNvSpPr/>
            <p:nvPr/>
          </p:nvSpPr>
          <p:spPr>
            <a:xfrm flipV="true">
              <a:off x="1508585" y="2198596"/>
              <a:ext cx="0" cy="360699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271240" y="1383242"/>
              <a:ext cx="360699" cy="0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618545" y="564904"/>
              <a:ext cx="303512" cy="194896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 flipV="true">
              <a:off x="648415" y="1955791"/>
              <a:ext cx="274526" cy="233965"/>
            </a:xfrm>
            <a:prstGeom prst="line">
              <a:avLst/>
            </a:prstGeom>
            <a:ln cap="flat" w="50800">
              <a:solidFill>
                <a:srgbClr val="F2981B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2120785" y="2830134"/>
            <a:ext cx="14272771" cy="7225590"/>
          </a:xfrm>
          <a:custGeom>
            <a:avLst/>
            <a:gdLst/>
            <a:ahLst/>
            <a:cxnLst/>
            <a:rect r="r" b="b" t="t" l="l"/>
            <a:pathLst>
              <a:path h="7225590" w="14272771">
                <a:moveTo>
                  <a:pt x="0" y="0"/>
                </a:moveTo>
                <a:lnTo>
                  <a:pt x="14272771" y="0"/>
                </a:lnTo>
                <a:lnTo>
                  <a:pt x="14272771" y="7225591"/>
                </a:lnTo>
                <a:lnTo>
                  <a:pt x="0" y="72255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897392" y="901744"/>
            <a:ext cx="11716731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00"/>
              </a:lnSpc>
            </a:pPr>
            <a:r>
              <a:rPr lang="en-US" sz="5000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DEFINICIÓN DE LOS ALCANCES DE LA INVESTIGACIÓN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63788" y="1170785"/>
            <a:ext cx="10960423" cy="863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145C8C"/>
                </a:solidFill>
                <a:latin typeface="Sifonn"/>
                <a:ea typeface="Sifonn"/>
                <a:cs typeface="Sifonn"/>
                <a:sym typeface="Sifonn"/>
              </a:rPr>
              <a:t>CONCLUSIONES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28567" y="5917367"/>
            <a:ext cx="10230865" cy="294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1F167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¿Qué h</a:t>
            </a:r>
            <a:r>
              <a:rPr lang="en-US" b="true" sz="2799" strike="noStrike" u="none">
                <a:solidFill>
                  <a:srgbClr val="1F167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emos aprendido?</a:t>
            </a:r>
          </a:p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Kanban es una herramienta poderosa que permite</a:t>
            </a:r>
          </a:p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organizar proyectos de manera excepcionalmente visual</a:t>
            </a:r>
          </a:p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y sencilla, enfocándose en la finalización de tareas antes</a:t>
            </a:r>
          </a:p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que en empezar nuevas.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674663" y="2266920"/>
            <a:ext cx="2936942" cy="2386933"/>
          </a:xfrm>
          <a:custGeom>
            <a:avLst/>
            <a:gdLst/>
            <a:ahLst/>
            <a:cxnLst/>
            <a:rect r="r" b="b" t="t" l="l"/>
            <a:pathLst>
              <a:path h="2386933" w="2936942">
                <a:moveTo>
                  <a:pt x="0" y="0"/>
                </a:moveTo>
                <a:lnTo>
                  <a:pt x="2936943" y="0"/>
                </a:lnTo>
                <a:lnTo>
                  <a:pt x="2936943" y="2386933"/>
                </a:lnTo>
                <a:lnTo>
                  <a:pt x="0" y="2386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31950" y="2172154"/>
            <a:ext cx="1075890" cy="2424541"/>
          </a:xfrm>
          <a:custGeom>
            <a:avLst/>
            <a:gdLst/>
            <a:ahLst/>
            <a:cxnLst/>
            <a:rect r="r" b="b" t="t" l="l"/>
            <a:pathLst>
              <a:path h="2424541" w="1075890">
                <a:moveTo>
                  <a:pt x="0" y="0"/>
                </a:moveTo>
                <a:lnTo>
                  <a:pt x="1075890" y="0"/>
                </a:lnTo>
                <a:lnTo>
                  <a:pt x="1075890" y="2424541"/>
                </a:lnTo>
                <a:lnTo>
                  <a:pt x="0" y="2424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1080160" y="2266920"/>
            <a:ext cx="1075890" cy="2424541"/>
          </a:xfrm>
          <a:custGeom>
            <a:avLst/>
            <a:gdLst/>
            <a:ahLst/>
            <a:cxnLst/>
            <a:rect r="r" b="b" t="t" l="l"/>
            <a:pathLst>
              <a:path h="2424541" w="1075890">
                <a:moveTo>
                  <a:pt x="1075890" y="0"/>
                </a:moveTo>
                <a:lnTo>
                  <a:pt x="0" y="0"/>
                </a:lnTo>
                <a:lnTo>
                  <a:pt x="0" y="2424541"/>
                </a:lnTo>
                <a:lnTo>
                  <a:pt x="1075890" y="2424541"/>
                </a:lnTo>
                <a:lnTo>
                  <a:pt x="10758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1806983"/>
            <a:ext cx="6353656" cy="308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05"/>
              </a:lnSpc>
              <a:spcBef>
                <a:spcPct val="0"/>
              </a:spcBef>
            </a:pPr>
            <a:r>
              <a:rPr lang="en-US" b="true" sz="3075">
                <a:solidFill>
                  <a:srgbClr val="1F167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Pil</a:t>
            </a:r>
            <a:r>
              <a:rPr lang="en-US" b="true" sz="3075" strike="noStrike" u="none">
                <a:solidFill>
                  <a:srgbClr val="1F167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ares Fundamentales</a:t>
            </a:r>
          </a:p>
          <a:p>
            <a:pPr algn="ctr" marL="0" indent="0" lvl="0">
              <a:lnSpc>
                <a:spcPts val="4305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998"/>
              </a:lnSpc>
              <a:spcBef>
                <a:spcPct val="0"/>
              </a:spcBef>
            </a:pPr>
            <a:r>
              <a:rPr lang="en-US" sz="2855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Control visual inmediato </a:t>
            </a:r>
          </a:p>
          <a:p>
            <a:pPr algn="ctr" marL="0" indent="0" lvl="0">
              <a:lnSpc>
                <a:spcPts val="3998"/>
              </a:lnSpc>
              <a:spcBef>
                <a:spcPct val="0"/>
              </a:spcBef>
            </a:pPr>
            <a:r>
              <a:rPr lang="en-US" sz="2855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 del trabajo.</a:t>
            </a:r>
          </a:p>
          <a:p>
            <a:pPr algn="ctr" marL="0" indent="0" lvl="0">
              <a:lnSpc>
                <a:spcPts val="3998"/>
              </a:lnSpc>
              <a:spcBef>
                <a:spcPct val="0"/>
              </a:spcBef>
            </a:pPr>
            <a:r>
              <a:rPr lang="en-US" sz="2855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Alta flexibilidad operativa.</a:t>
            </a:r>
          </a:p>
          <a:p>
            <a:pPr algn="ctr" marL="0" indent="0" lvl="0">
              <a:lnSpc>
                <a:spcPts val="3998"/>
              </a:lnSpc>
              <a:spcBef>
                <a:spcPct val="0"/>
              </a:spcBef>
            </a:pPr>
            <a:r>
              <a:rPr lang="en-US" sz="2855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· Cultura de mejora continua.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82106" y="1806983"/>
            <a:ext cx="6353656" cy="3559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05"/>
              </a:lnSpc>
              <a:spcBef>
                <a:spcPct val="0"/>
              </a:spcBef>
            </a:pPr>
            <a:r>
              <a:rPr lang="en-US" b="true" sz="3075">
                <a:solidFill>
                  <a:srgbClr val="1F167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¿C</a:t>
            </a:r>
            <a:r>
              <a:rPr lang="en-US" b="true" sz="3075" strike="noStrike" u="none">
                <a:solidFill>
                  <a:srgbClr val="1F167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uándo recomendarlo?</a:t>
            </a:r>
          </a:p>
          <a:p>
            <a:pPr algn="ctr" marL="0" indent="0" lvl="0">
              <a:lnSpc>
                <a:spcPts val="3998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Ideal para entornos con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 cambios constantes,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mantenimiento continuo, equipos pequeños/medianos, o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cuando se requiere una respuesta </a:t>
            </a:r>
          </a:p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F1674"/>
                </a:solidFill>
                <a:latin typeface="Montserrat"/>
                <a:ea typeface="Montserrat"/>
                <a:cs typeface="Montserrat"/>
                <a:sym typeface="Montserrat"/>
              </a:rPr>
              <a:t>rápida de soporte técnico.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DAHK_7s-ff0</dc:identifier>
  <dcterms:modified xsi:type="dcterms:W3CDTF">2011-08-01T06:04:30Z</dcterms:modified>
  <cp:revision>1</cp:revision>
  <dc:title>Presentación Metodología De La Investigación Ilustrada Azul y Naranja</dc:title>
</cp:coreProperties>
</file>